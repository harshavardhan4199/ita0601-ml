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4" r:id="rId6"/>
    <p:sldId id="270" r:id="rId7"/>
    <p:sldId id="261" r:id="rId8"/>
    <p:sldId id="265" r:id="rId9"/>
    <p:sldId id="271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2F887-4421-4DB5-0405-D099371E9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A9031-C360-F0B5-51E3-709C98680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0910C-4C2B-DDC1-B5F6-E37AACDA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B19C6-ADC7-85D2-80A0-3AFD1630D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3CF61-F869-BFF1-7B51-EF5E25C2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6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9ADC-8FA0-B69A-3DAD-175CC82F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F26E4-5BB3-65B1-48A8-0D57D3F5A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83CB1-E1EA-C114-D604-51819188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49D60-4FAF-BF52-8CF5-D0708DEE6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DE3A0-04CF-4AEA-FEA8-C01C5809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62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A2446-766B-2F9D-51D6-FCFCE6D6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413B4-5EF3-07A8-592F-CDB1EA5AD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99A5A-11F9-D552-BDD3-607257D6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1973E-5A05-30C1-F8F3-387ABF29E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EEED-52FD-C507-7763-C9C7B8200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3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72610-77D3-9E05-86B9-9973BB5A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E2243-1EBC-D2DC-9E49-477D0ECC7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D8233-6714-5BA4-B2D0-B6D9F44E1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31861-F1D5-96B5-E881-0966ECAF3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66D8A-BE33-4E48-83B9-874F20CE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BEDEB-A478-A0D9-4570-53FB0ACB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78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A61A-6D00-E4AF-31AA-2E4427E7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12D2B-855B-D3C8-A3BB-F06BA9E57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5463E-17A7-5437-AF95-03F85E08F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4E8C32-485F-B2E8-42FC-EAAC8AF07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B61C11-4861-8992-99F6-DFF36904B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059334-3737-1A8F-AC8D-23A2D911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186F0-967B-755E-0888-FDBE50A7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36AC9-D038-79C7-1125-C22F449A4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58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9FAD-9C93-99AA-99A8-8655E1D5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BC58D-4000-0713-347F-0B3BAC41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95AD4-E6C2-FD50-A064-DED548ECD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DE383-1B09-7E06-FF31-76687A50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90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7156DD-B581-1794-2877-9C2679DA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76F11C-6C1D-5A8F-530B-1595BFB5F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79DBC-2DD1-E28F-4A8D-7F8A68142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4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242D-8D85-2ADA-822F-6AD62D8E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1D8AC-9763-F3C6-D52A-3FB75D57D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3E123-E0CC-8AD0-04B7-3B10724D9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95A1E-400B-6C58-95A6-C78FB664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3FF79-C188-686B-B1CF-E801793F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1B6E1-F694-1F87-CC1E-945A567B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94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DA93-868C-9C62-8811-C5D13FA2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40D17-F216-402A-20AF-2D0D0841C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BD2CE-D763-4965-2969-F214DCAFC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FA946-BE15-38BE-1FAE-9F773040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DC3AE-8526-DF8F-0F46-94AFF383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82AB8-6C05-FB02-BC77-6FEC2A1B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41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8BABC-5879-7895-CCD4-4BEBEE1CC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416E1-C925-129B-1649-2D92936D1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399C5-FB8C-B94A-30C6-98CCBA624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36281-CA6A-334F-C388-6E486110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FAC53-1A2F-827D-4037-8FAE3E9C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1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69F21-AF0C-97A0-9859-D7A67163E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0052F-72E6-55F7-A379-1968CB369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6AFC3-2DD7-5E43-D640-4B00520D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1A24B-5D7E-DC14-A891-7D54B0CEB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F132F-B2DB-5769-4F63-26DEAC27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9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0ADB9-C3A9-B232-9D3B-26FFF13C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EE4EA-4956-CC4B-9BA1-781EC2F8F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438EF-4BC1-D16C-2DBF-D3785EAD7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883FB-2328-46F6-9B0B-5FCD893B232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A37F-3636-7FB1-6DAF-CA7C2C6C2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47109-8874-0482-81D6-DDD462CDC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97FC5-7A56-4569-9D95-B2B6557E1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56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Admissions — SIMATS">
            <a:extLst>
              <a:ext uri="{FF2B5EF4-FFF2-40B4-BE49-F238E27FC236}">
                <a16:creationId xmlns:a16="http://schemas.microsoft.com/office/drawing/2014/main" id="{87EB71AE-C0AE-8D3A-E7E4-CB2F509F2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321" y="131236"/>
            <a:ext cx="4093698" cy="88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2F736BF7-435F-134C-28C2-478E3EF0226A}"/>
              </a:ext>
            </a:extLst>
          </p:cNvPr>
          <p:cNvSpPr txBox="1">
            <a:spLocks/>
          </p:cNvSpPr>
          <p:nvPr/>
        </p:nvSpPr>
        <p:spPr>
          <a:xfrm>
            <a:off x="860638" y="1492348"/>
            <a:ext cx="10665458" cy="899862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400" b="1" dirty="0">
                <a:latin typeface="Times New Roman"/>
              </a:rPr>
              <a:t>AGROSCAN: CROP DISEASE DETECTION</a:t>
            </a:r>
            <a:br>
              <a:rPr dirty="0"/>
            </a:br>
            <a:r>
              <a:rPr sz="2400" b="1" dirty="0">
                <a:latin typeface="Times New Roman"/>
              </a:rPr>
              <a:t>USING IMAGE PROCESSING</a:t>
            </a:r>
          </a:p>
        </p:txBody>
      </p:sp>
      <p:pic>
        <p:nvPicPr>
          <p:cNvPr id="13" name="Picture 12" descr="CSESSE - HOME">
            <a:extLst>
              <a:ext uri="{FF2B5EF4-FFF2-40B4-BE49-F238E27FC236}">
                <a16:creationId xmlns:a16="http://schemas.microsoft.com/office/drawing/2014/main" id="{81C6D9AF-04C4-2E9B-E655-A3EA1784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81" y="52152"/>
            <a:ext cx="3853392" cy="1041457"/>
          </a:xfrm>
          <a:prstGeom prst="rect">
            <a:avLst/>
          </a:prstGeom>
        </p:spPr>
      </p:pic>
      <p:sp>
        <p:nvSpPr>
          <p:cNvPr id="14" name="object 3">
            <a:extLst>
              <a:ext uri="{FF2B5EF4-FFF2-40B4-BE49-F238E27FC236}">
                <a16:creationId xmlns:a16="http://schemas.microsoft.com/office/drawing/2014/main" id="{4488373F-1C46-52B9-1ECB-646F21F04CF5}"/>
              </a:ext>
            </a:extLst>
          </p:cNvPr>
          <p:cNvSpPr txBox="1"/>
          <p:nvPr/>
        </p:nvSpPr>
        <p:spPr>
          <a:xfrm>
            <a:off x="7871762" y="4212544"/>
            <a:ext cx="4192916" cy="138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  <a:defRPr sz="1800" b="1">
                <a:latin typeface="Times New Roman"/>
              </a:defRPr>
            </a:pPr>
            <a:r>
              <a:t>Presented By:</a:t>
            </a:r>
            <a:endParaRPr lang="en-US" sz="2000" b="1" spc="-10" dirty="0">
              <a:solidFill>
                <a:srgbClr val="8888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P Avinash (192424299)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 Harshavardhan (192324189)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V Niranjan Reddy (192324125)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700" b="1">
                <a:latin typeface="Times New Roman"/>
              </a:defRPr>
            </a:pPr>
            <a:endParaRPr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2C27ACC7-0E44-4678-3D65-FF09AE4185D3}"/>
              </a:ext>
            </a:extLst>
          </p:cNvPr>
          <p:cNvSpPr txBox="1"/>
          <p:nvPr/>
        </p:nvSpPr>
        <p:spPr>
          <a:xfrm>
            <a:off x="898970" y="4634085"/>
            <a:ext cx="3388403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  <a:defRPr sz="1800" b="1">
                <a:latin typeface="Times New Roman"/>
              </a:defRPr>
            </a:pPr>
            <a:r>
              <a:t>Guided By: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700" b="1">
                <a:latin typeface="Times New Roman"/>
              </a:defRPr>
            </a:pPr>
            <a:r>
              <a:rPr lang="en-US" sz="1700" b="1">
                <a:latin typeface="Times New Roman"/>
              </a:rPr>
              <a:t>Dr. </a:t>
            </a:r>
            <a:r>
              <a:rPr lang="en-IN" sz="1700" b="1">
                <a:latin typeface="Times New Roman"/>
              </a:rPr>
              <a:t>Kavitha.R</a:t>
            </a:r>
          </a:p>
          <a:p>
            <a:pPr>
              <a:defRPr sz="1700" b="1">
                <a:latin typeface="Times New Roman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331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_ses">
            <a:extLst>
              <a:ext uri="{FF2B5EF4-FFF2-40B4-BE49-F238E27FC236}">
                <a16:creationId xmlns:a16="http://schemas.microsoft.com/office/drawing/2014/main" id="{B41949F8-DD05-368A-CB67-A0F2A87865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0067"/>
            <a:ext cx="965200" cy="1159934"/>
          </a:xfrm>
          <a:prstGeom prst="rect">
            <a:avLst/>
          </a:prstGeom>
        </p:spPr>
      </p:pic>
      <p:pic>
        <p:nvPicPr>
          <p:cNvPr id="9" name="logo_simats">
            <a:extLst>
              <a:ext uri="{FF2B5EF4-FFF2-40B4-BE49-F238E27FC236}">
                <a16:creationId xmlns:a16="http://schemas.microsoft.com/office/drawing/2014/main" id="{3F979743-1064-BB96-C640-C474EAE18B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0144" y="121110"/>
            <a:ext cx="1329456" cy="11599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37191" y="680509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rPr sz="4000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3BA06-2E8C-4987-85A6-6B4E03E179CA}"/>
              </a:ext>
            </a:extLst>
          </p:cNvPr>
          <p:cNvSpPr txBox="1"/>
          <p:nvPr/>
        </p:nvSpPr>
        <p:spPr>
          <a:xfrm>
            <a:off x="1387928" y="1859338"/>
            <a:ext cx="932221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AgroScan is a web-based system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detecting plant leaf diseases.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deep learning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diseases can cause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20–40% loss in global crop yield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Manual disease diagnosis is often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slow, costly, and unavailable in rural areas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Farmers can capture or upload a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leaf image using a smartphone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image preprocessing and disease-region segmentation.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CNN model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classify the detected plant disease.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and disease severity level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AgroScan gives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actionable treatment recommendations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farmers.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fast, accurate, and accessible solution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crop loss and unnecessary pesticide use.</a:t>
            </a:r>
          </a:p>
          <a:p>
            <a:pPr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178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_ses">
            <a:extLst>
              <a:ext uri="{FF2B5EF4-FFF2-40B4-BE49-F238E27FC236}">
                <a16:creationId xmlns:a16="http://schemas.microsoft.com/office/drawing/2014/main" id="{4EF78A6C-6889-468B-944C-18E4FB548E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0067"/>
            <a:ext cx="965200" cy="1159934"/>
          </a:xfrm>
          <a:prstGeom prst="rect">
            <a:avLst/>
          </a:prstGeom>
        </p:spPr>
      </p:pic>
      <p:pic>
        <p:nvPicPr>
          <p:cNvPr id="9" name="logo_simats">
            <a:extLst>
              <a:ext uri="{FF2B5EF4-FFF2-40B4-BE49-F238E27FC236}">
                <a16:creationId xmlns:a16="http://schemas.microsoft.com/office/drawing/2014/main" id="{4FFA6FE4-80C5-42D3-ABE2-33149F079AD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0144" y="121110"/>
            <a:ext cx="1329456" cy="11599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88920" y="292608"/>
            <a:ext cx="6583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23444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1216152"/>
            <a:ext cx="47091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1F4E79"/>
                </a:solidFill>
                <a:latin typeface="Times New Roman"/>
              </a:defRPr>
            </a:pPr>
            <a:r>
              <a:t>Automate image capture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Let users upload or capture a leaf photo directly from a phone or laptop.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23444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216152"/>
            <a:ext cx="47091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E67E22"/>
                </a:solidFill>
                <a:latin typeface="Times New Roman"/>
              </a:defRPr>
            </a:pPr>
            <a:r>
              <a:t>Process &amp; segment the leaf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Apply OpenCV preprocessing and segment diseased regions from healthy tissue.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9184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273552"/>
            <a:ext cx="47091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277D59"/>
                </a:solidFill>
                <a:latin typeface="Times New Roman"/>
              </a:defRPr>
            </a:pPr>
            <a:r>
              <a:t>Classify accurately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Use a trained CNN model to identify the disease with a confidence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29184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273552"/>
            <a:ext cx="47091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14345D"/>
                </a:solidFill>
                <a:latin typeface="Times New Roman"/>
              </a:defRPr>
            </a:pPr>
            <a:r>
              <a:t>Report &amp; recommend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Show severity level and actionable treatment recommendations instantly.</a:t>
            </a:r>
          </a:p>
        </p:txBody>
      </p:sp>
    </p:spTree>
    <p:extLst>
      <p:ext uri="{BB962C8B-B14F-4D97-AF65-F5344CB8AC3E}">
        <p14:creationId xmlns:p14="http://schemas.microsoft.com/office/powerpoint/2010/main" val="2907760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78AD-976B-B8D1-1DC3-0528F5793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_ses">
            <a:extLst>
              <a:ext uri="{FF2B5EF4-FFF2-40B4-BE49-F238E27FC236}">
                <a16:creationId xmlns:a16="http://schemas.microsoft.com/office/drawing/2014/main" id="{91672F13-A197-256C-97B9-45B9FBDC1B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110"/>
            <a:ext cx="965200" cy="1159934"/>
          </a:xfrm>
          <a:prstGeom prst="rect">
            <a:avLst/>
          </a:prstGeom>
        </p:spPr>
      </p:pic>
      <p:pic>
        <p:nvPicPr>
          <p:cNvPr id="9" name="logo_simats">
            <a:extLst>
              <a:ext uri="{FF2B5EF4-FFF2-40B4-BE49-F238E27FC236}">
                <a16:creationId xmlns:a16="http://schemas.microsoft.com/office/drawing/2014/main" id="{F3E496DA-9856-D571-8CB0-3DE35A62AC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0144" y="121110"/>
            <a:ext cx="1329456" cy="11599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79040" y="347134"/>
            <a:ext cx="60444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rPr sz="4000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09A9E-8E8E-D9DF-4CE1-637C1506230B}"/>
              </a:ext>
            </a:extLst>
          </p:cNvPr>
          <p:cNvSpPr txBox="1"/>
          <p:nvPr/>
        </p:nvSpPr>
        <p:spPr>
          <a:xfrm>
            <a:off x="574430" y="1463633"/>
            <a:ext cx="103468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Yield Loss: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Plant diseases destroy an estimated 20–40% of global crop yield every year worldwide.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Manual Diagnosis: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Expert diagnosis is slow, costly, and often unavailable in rural areas.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Misidentification: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Farmers frequently misidentify diseases, leading to wrong or excessive pesticide use.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Early Symptoms: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Early-stage disease symptoms are easy to miss with the naked eye until damage has spread.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Mobile-Ready Tool: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simple, automated image-based tool exists that any farmer can use directly on a smartphone.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Security Risk: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Undetected outbreaks threaten food security and put farmer income at risk.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Treatment: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accurate diagnosis, treatment and pesticide use are often inconsistent or delayed.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Speed: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practical field tool must deliver an accurate diagnosis in under 3 seconds on a mobile device.</a:t>
            </a:r>
          </a:p>
        </p:txBody>
      </p:sp>
    </p:spTree>
    <p:extLst>
      <p:ext uri="{BB962C8B-B14F-4D97-AF65-F5344CB8AC3E}">
        <p14:creationId xmlns:p14="http://schemas.microsoft.com/office/powerpoint/2010/main" val="63447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920" y="292608"/>
            <a:ext cx="6583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t>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61288" y="1124712"/>
            <a:ext cx="2971800" cy="1627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1F4E79"/>
                </a:solidFill>
                <a:latin typeface="Times New Roman"/>
              </a:defRPr>
            </a:pPr>
            <a:r>
              <a:t>Image Acquisition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Upload or capture a leaf photo directly from a phone or laptop camera.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1124712"/>
            <a:ext cx="2971800" cy="1627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277D59"/>
                </a:solidFill>
                <a:latin typeface="Times New Roman"/>
              </a:defRPr>
            </a:pPr>
            <a:r>
              <a:t>Preprocessing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Remove noise, resize, normalize and convert to HSV/Lab color space using OpenCV.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14300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50808" y="1124712"/>
            <a:ext cx="2971800" cy="1627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E67E22"/>
                </a:solidFill>
                <a:latin typeface="Times New Roman"/>
              </a:defRPr>
            </a:pPr>
            <a:r>
              <a:t>Segmentation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Isolate diseased lesions from healthy tissue via K-means clustering / Otsu thresholding.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8328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61288" y="3364992"/>
            <a:ext cx="2971800" cy="1627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14345D"/>
                </a:solidFill>
                <a:latin typeface="Times New Roman"/>
              </a:defRPr>
            </a:pPr>
            <a:r>
              <a:t>Feature Extraction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Extract color, GLCM texture and shape features, and compute severity 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38328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6048" y="3364992"/>
            <a:ext cx="2971800" cy="1627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1F4E79"/>
                </a:solidFill>
                <a:latin typeface="Times New Roman"/>
              </a:defRPr>
            </a:pPr>
            <a:r>
              <a:t>CNN Classification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Classify the disease with a trained CNN (MobileNetV2 / EfficientNet) and confidence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38328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50808" y="3364992"/>
            <a:ext cx="2971800" cy="16276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277D59"/>
                </a:solidFill>
                <a:latin typeface="Times New Roman"/>
              </a:defRPr>
            </a:pPr>
            <a:r>
              <a:t>Result &amp; Recommendation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Display disease name, severity level and actionable treatment advice instantly.</a:t>
            </a:r>
          </a:p>
        </p:txBody>
      </p:sp>
    </p:spTree>
    <p:extLst>
      <p:ext uri="{BB962C8B-B14F-4D97-AF65-F5344CB8AC3E}">
        <p14:creationId xmlns:p14="http://schemas.microsoft.com/office/powerpoint/2010/main" val="1385755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_ses">
            <a:extLst>
              <a:ext uri="{FF2B5EF4-FFF2-40B4-BE49-F238E27FC236}">
                <a16:creationId xmlns:a16="http://schemas.microsoft.com/office/drawing/2014/main" id="{4EF78A6C-6889-468B-944C-18E4FB548E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0067"/>
            <a:ext cx="965200" cy="1159934"/>
          </a:xfrm>
          <a:prstGeom prst="rect">
            <a:avLst/>
          </a:prstGeom>
        </p:spPr>
      </p:pic>
      <p:pic>
        <p:nvPicPr>
          <p:cNvPr id="9" name="logo_simats">
            <a:extLst>
              <a:ext uri="{FF2B5EF4-FFF2-40B4-BE49-F238E27FC236}">
                <a16:creationId xmlns:a16="http://schemas.microsoft.com/office/drawing/2014/main" id="{4FFA6FE4-80C5-42D3-ABE2-33149F079AD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0144" y="121110"/>
            <a:ext cx="1329456" cy="11599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88920" y="292608"/>
            <a:ext cx="6583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23444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1216152"/>
            <a:ext cx="47091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1F4E79"/>
                </a:solidFill>
                <a:latin typeface="Times New Roman"/>
              </a:defRPr>
            </a:pPr>
            <a:r>
              <a:t>Frontend Layer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React + Tailwind interface for image upload, capture and result display.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23444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216152"/>
            <a:ext cx="47091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E67E22"/>
                </a:solidFill>
                <a:latin typeface="Times New Roman"/>
              </a:defRPr>
            </a:pPr>
            <a:r>
              <a:t>Backend API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FastAPI server handles requests, routes images and returns diagnosis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9184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273552"/>
            <a:ext cx="47091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277D59"/>
                </a:solidFill>
                <a:latin typeface="Times New Roman"/>
              </a:defRPr>
            </a:pPr>
            <a:r>
              <a:t>Image Processing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OpenCV preprocessing and segmentation isolate the diseased leaf region.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291840"/>
            <a:ext cx="566928" cy="310896"/>
          </a:xfrm>
          <a:prstGeom prst="roundRect">
            <a:avLst/>
          </a:prstGeom>
          <a:solidFill>
            <a:srgbClr val="14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273552"/>
            <a:ext cx="47091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rtlCol="0" anchor="ctr"/>
          <a:lstStyle/>
          <a:p>
            <a:pPr algn="ctr">
              <a:defRPr sz="1700" b="1">
                <a:solidFill>
                  <a:srgbClr val="14345D"/>
                </a:solidFill>
                <a:latin typeface="Times New Roman"/>
              </a:defRPr>
            </a:pPr>
            <a:r>
              <a:t>AI Model &amp; Storage</a:t>
            </a:r>
          </a:p>
          <a:p>
            <a:pPr>
              <a:spcBef>
                <a:spcPts val="400"/>
              </a:spcBef>
              <a:defRPr sz="1350">
                <a:solidFill>
                  <a:srgbClr val="555555"/>
                </a:solidFill>
                <a:latin typeface="Times New Roman"/>
              </a:defRPr>
            </a:pPr>
            <a:r>
              <a:t>TensorFlow/CNN classifies the disease; results are saved in SQLite / PostgreSQL.</a:t>
            </a:r>
          </a:p>
        </p:txBody>
      </p:sp>
    </p:spTree>
    <p:extLst>
      <p:ext uri="{BB962C8B-B14F-4D97-AF65-F5344CB8AC3E}">
        <p14:creationId xmlns:p14="http://schemas.microsoft.com/office/powerpoint/2010/main" val="2907760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7BEA3-F3C1-8C5D-B8CD-01347F14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_ses">
            <a:extLst>
              <a:ext uri="{FF2B5EF4-FFF2-40B4-BE49-F238E27FC236}">
                <a16:creationId xmlns:a16="http://schemas.microsoft.com/office/drawing/2014/main" id="{B81093C6-9E96-A70B-A30B-575AC1E24C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0067"/>
            <a:ext cx="965200" cy="1159934"/>
          </a:xfrm>
          <a:prstGeom prst="rect">
            <a:avLst/>
          </a:prstGeom>
        </p:spPr>
      </p:pic>
      <p:pic>
        <p:nvPicPr>
          <p:cNvPr id="7" name="logo_simats">
            <a:extLst>
              <a:ext uri="{FF2B5EF4-FFF2-40B4-BE49-F238E27FC236}">
                <a16:creationId xmlns:a16="http://schemas.microsoft.com/office/drawing/2014/main" id="{89A3D0D3-459D-4BE4-9DF8-5B21DE08D5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0144" y="121110"/>
            <a:ext cx="1329456" cy="11599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9847" y="408689"/>
            <a:ext cx="103323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rPr sz="3200" dirty="0"/>
              <a:t>MODULE 1 </a:t>
            </a:r>
            <a:endParaRPr lang="en-IN" sz="3200" dirty="0"/>
          </a:p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rPr sz="3200" dirty="0"/>
              <a:t> PREPROCESSING &amp; FEATURE EXTRACTION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43648-4220-3B4F-EA46-334A093A07C1}"/>
              </a:ext>
            </a:extLst>
          </p:cNvPr>
          <p:cNvSpPr txBox="1"/>
          <p:nvPr/>
        </p:nvSpPr>
        <p:spPr>
          <a:xfrm>
            <a:off x="929847" y="1579666"/>
            <a:ext cx="1009357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Upload or capture a leaf image via phone camera or file upload.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Apply Gaussian / median filtering to clean the image.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&amp; Normalize: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Scale and normalize the image to match the CNN input size.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Space Conversion: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Convert RGB to HSV / Lab color space and remove the background to isolate the leaf.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diseased lesions using K-means clustering or Otsu thresholding.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Extract color, texture (GLCM) and shape features from the segmented lesion.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Computation: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Compute severity % = diseased area / total leaf area, producing a clean feature vector.</a:t>
            </a:r>
          </a:p>
        </p:txBody>
      </p:sp>
    </p:spTree>
    <p:extLst>
      <p:ext uri="{BB962C8B-B14F-4D97-AF65-F5344CB8AC3E}">
        <p14:creationId xmlns:p14="http://schemas.microsoft.com/office/powerpoint/2010/main" val="2293294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FB5D0-4C71-1C6D-E18A-35704A54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_ses">
            <a:extLst>
              <a:ext uri="{FF2B5EF4-FFF2-40B4-BE49-F238E27FC236}">
                <a16:creationId xmlns:a16="http://schemas.microsoft.com/office/drawing/2014/main" id="{AF8AA58D-0C3D-3E56-E52F-D436F06860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0067"/>
            <a:ext cx="965200" cy="1159934"/>
          </a:xfrm>
          <a:prstGeom prst="rect">
            <a:avLst/>
          </a:prstGeom>
        </p:spPr>
      </p:pic>
      <p:pic>
        <p:nvPicPr>
          <p:cNvPr id="7" name="logo_simats">
            <a:extLst>
              <a:ext uri="{FF2B5EF4-FFF2-40B4-BE49-F238E27FC236}">
                <a16:creationId xmlns:a16="http://schemas.microsoft.com/office/drawing/2014/main" id="{DF0AEBC3-8B60-F037-DB30-0902D264994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0144" y="121110"/>
            <a:ext cx="1329456" cy="11599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56079" y="423492"/>
            <a:ext cx="8079841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rPr sz="3200" dirty="0"/>
              <a:t>MODULE 2 </a:t>
            </a:r>
            <a:endParaRPr lang="en-IN" sz="3200" dirty="0"/>
          </a:p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rPr sz="3200" dirty="0"/>
              <a:t> CLASSIFICATION &amp; RESULT REPORTING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B346F-ED3E-4F85-45AC-B6A660737DD4}"/>
              </a:ext>
            </a:extLst>
          </p:cNvPr>
          <p:cNvSpPr txBox="1"/>
          <p:nvPr/>
        </p:nvSpPr>
        <p:spPr>
          <a:xfrm>
            <a:off x="982749" y="1500710"/>
            <a:ext cx="10892727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Classification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CNN (MobileNetV2 / EfficientNet) is trained on thousands of labeled leaf images.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learns to recognize disease-specific spots, discoloration and lesion patterns.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the top-3 predictions with confidence scores for full transparency.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Mapping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the predicted class to disease name, symptoms and treatment information.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Estimation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the feature-extraction severity % with the predicted disease class.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severity as mild, moderate or severe for the diagnosis.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original image alongside a diseased-region overlay.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disease name, severity level and confidence score together.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Recommendation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actionable treatment such as fungicide use or cultural practices, and save the scan to history.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classifier is evaluated using: 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&amp; Precision 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&amp; F1-Score</a:t>
            </a:r>
          </a:p>
        </p:txBody>
      </p:sp>
    </p:spTree>
    <p:extLst>
      <p:ext uri="{BB962C8B-B14F-4D97-AF65-F5344CB8AC3E}">
        <p14:creationId xmlns:p14="http://schemas.microsoft.com/office/powerpoint/2010/main" val="183873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7BEA3-F3C1-8C5D-B8CD-01347F14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_ses">
            <a:extLst>
              <a:ext uri="{FF2B5EF4-FFF2-40B4-BE49-F238E27FC236}">
                <a16:creationId xmlns:a16="http://schemas.microsoft.com/office/drawing/2014/main" id="{B81093C6-9E96-A70B-A30B-575AC1E24C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0067"/>
            <a:ext cx="965200" cy="1159934"/>
          </a:xfrm>
          <a:prstGeom prst="rect">
            <a:avLst/>
          </a:prstGeom>
        </p:spPr>
      </p:pic>
      <p:pic>
        <p:nvPicPr>
          <p:cNvPr id="7" name="logo_simats">
            <a:extLst>
              <a:ext uri="{FF2B5EF4-FFF2-40B4-BE49-F238E27FC236}">
                <a16:creationId xmlns:a16="http://schemas.microsoft.com/office/drawing/2014/main" id="{89A3D0D3-459D-4BE4-9DF8-5B21DE08D5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0144" y="121110"/>
            <a:ext cx="1329456" cy="11599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9847" y="408689"/>
            <a:ext cx="103323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rPr sz="3200" dirty="0"/>
              <a:t>SAMPLE OUTPUT</a:t>
            </a:r>
            <a:endParaRPr lang="en-IN" sz="3200" dirty="0"/>
          </a:p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rPr sz="3200" dirty="0"/>
              <a:t>Scan Result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43648-4220-3B4F-EA46-334A093A07C1}"/>
              </a:ext>
            </a:extLst>
          </p:cNvPr>
          <p:cNvSpPr txBox="1"/>
          <p:nvPr/>
        </p:nvSpPr>
        <p:spPr>
          <a:xfrm>
            <a:off x="502104" y="1600000"/>
            <a:ext cx="1134992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Leaf Image: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Tomato leaf photo captured on a smartphone in the field.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Disease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Tomato — Early Blight.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Score: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94.2%, based on the top CNN prediction.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Level: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Moderate — 23% of leaf area affected.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Diseased-Region Overlay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Highlights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segmented lesion area on top of the original image.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Treatment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Apply copper-based fungicide; remove infected leaves; improve airflow between plants. </a:t>
            </a:r>
          </a:p>
          <a:p>
            <a:pPr lvl="0"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History: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Result is saved automatically for the farmer to track disease trends over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AEC69D-2221-75EB-6C27-C31D30BC94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866" y="1485907"/>
            <a:ext cx="4613030" cy="307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29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52A1B-5E97-EC99-D7DA-48B087B6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_ses">
            <a:extLst>
              <a:ext uri="{FF2B5EF4-FFF2-40B4-BE49-F238E27FC236}">
                <a16:creationId xmlns:a16="http://schemas.microsoft.com/office/drawing/2014/main" id="{1BA29C9E-98E0-514C-4994-D7303E5B1B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0067"/>
            <a:ext cx="965200" cy="1159934"/>
          </a:xfrm>
          <a:prstGeom prst="rect">
            <a:avLst/>
          </a:prstGeom>
        </p:spPr>
      </p:pic>
      <p:pic>
        <p:nvPicPr>
          <p:cNvPr id="10" name="logo_simats">
            <a:extLst>
              <a:ext uri="{FF2B5EF4-FFF2-40B4-BE49-F238E27FC236}">
                <a16:creationId xmlns:a16="http://schemas.microsoft.com/office/drawing/2014/main" id="{ADE7307C-10C9-4D87-2ED5-7F742A9D1A6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0144" y="121110"/>
            <a:ext cx="1329456" cy="11599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1954" y="738842"/>
            <a:ext cx="334418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rPr lang="en-IN" sz="4000" dirty="0"/>
              <a:t>REFERENCE</a:t>
            </a:r>
            <a:endParaRPr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05897-AC58-B352-19C1-E2C357F07F4D}"/>
              </a:ext>
            </a:extLst>
          </p:cNvPr>
          <p:cNvSpPr txBox="1"/>
          <p:nvPr/>
        </p:nvSpPr>
        <p:spPr>
          <a:xfrm>
            <a:off x="635000" y="1649416"/>
            <a:ext cx="994591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Mohanty, S. P.,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Hughes, D. P., &amp; Salathé, M.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(2016).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“Using Deep Learning for Image-Based Plant Disease Detection.”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Plant Science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7, Article 1419.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Ferentinos, K. P. (2018).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“Deep learning models for plant disease detection and diagnosis.”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and Electronics in Agriculture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145, 311–318.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Sladojevic, S., Arsenovic, M., Anderla, A., Culibrk, D., &amp; Stefanovic, D. (2016).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“Deep Neural Networks Based Recognition of Plant Diseases by Leaf Image Classification.”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Intelligence and Neuroscience, 2016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Article 3289801.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Too, E. C., Yujian, L., Njuki, S.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&amp; Yingchun, L. (2019).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 comparative study of fine-tuning deep learning models for plant disease identification.”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and Electronics in Agriculture, 161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272–279.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Hughes, D. P., &amp; Salathé, M. (2015).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“An open access repository of images on plant health to enable the development of mobile disease diagnostics.”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preprint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arXiv:1511.08060. </a:t>
            </a:r>
          </a:p>
        </p:txBody>
      </p:sp>
    </p:spTree>
    <p:extLst>
      <p:ext uri="{BB962C8B-B14F-4D97-AF65-F5344CB8AC3E}">
        <p14:creationId xmlns:p14="http://schemas.microsoft.com/office/powerpoint/2010/main" val="3954204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1F3FE-8954-BC56-799B-D519D765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_ses">
            <a:extLst>
              <a:ext uri="{FF2B5EF4-FFF2-40B4-BE49-F238E27FC236}">
                <a16:creationId xmlns:a16="http://schemas.microsoft.com/office/drawing/2014/main" id="{B4DCA02B-DCD9-66DA-A5DC-C72FBC89C3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0067"/>
            <a:ext cx="965200" cy="1159934"/>
          </a:xfrm>
          <a:prstGeom prst="rect">
            <a:avLst/>
          </a:prstGeom>
        </p:spPr>
      </p:pic>
      <p:pic>
        <p:nvPicPr>
          <p:cNvPr id="10" name="logo_simats">
            <a:extLst>
              <a:ext uri="{FF2B5EF4-FFF2-40B4-BE49-F238E27FC236}">
                <a16:creationId xmlns:a16="http://schemas.microsoft.com/office/drawing/2014/main" id="{7F14ED0D-6E86-851C-91C2-DC620AB76B6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0144" y="121110"/>
            <a:ext cx="1329456" cy="11599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FC89DF-341A-35CA-373B-03F0794E5E11}"/>
              </a:ext>
            </a:extLst>
          </p:cNvPr>
          <p:cNvSpPr txBox="1"/>
          <p:nvPr/>
        </p:nvSpPr>
        <p:spPr>
          <a:xfrm>
            <a:off x="4413256" y="738842"/>
            <a:ext cx="366157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345D"/>
                </a:solidFill>
                <a:latin typeface="Times New Roman"/>
              </a:defRPr>
            </a:pPr>
            <a:r>
              <a:rPr sz="4000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417A4-AF5B-95B2-6424-A583181269A1}"/>
              </a:ext>
            </a:extLst>
          </p:cNvPr>
          <p:cNvSpPr txBox="1"/>
          <p:nvPr/>
        </p:nvSpPr>
        <p:spPr>
          <a:xfrm>
            <a:off x="707571" y="1623455"/>
            <a:ext cx="1107412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AgroScan combines classical image processing and deep learning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intelligent crop disease detection.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helps overcome the limitations of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slow and manual disease diagnosis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captures a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leaf image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OpenCV-based preprocessing and segmentation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isolate diseased regions.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extracts important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color, texture, and shape features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from the leaf.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CNN model (MobileNetV2 / EfficientNet)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classifies the detected disease.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each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38+ crop disease classes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 dataset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inference time is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under 3 seconds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fast diagnosis.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AgroScan can also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estimate disease severity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actionable treatment recommendations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farmers.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fast, accessible, and accurate solution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 can be used through a phone.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can help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reduce crop losses and minimize unnecessary pesticide use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38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1286</Words>
  <Application>Microsoft Office PowerPoint</Application>
  <PresentationFormat>Widescreen</PresentationFormat>
  <Paragraphs>145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Shiyam kumar S</dc:creator>
  <cp:lastModifiedBy>niranjan reddy</cp:lastModifiedBy>
  <cp:revision>4</cp:revision>
  <dcterms:created xsi:type="dcterms:W3CDTF">2026-08-08T02:42:43Z</dcterms:created>
  <dcterms:modified xsi:type="dcterms:W3CDTF">2026-09-01T05:53:28Z</dcterms:modified>
</cp:coreProperties>
</file>