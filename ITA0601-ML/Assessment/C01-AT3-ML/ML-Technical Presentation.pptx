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A9862-5F72-473D-98C6-3C849BC0EBFE}" v="4" dt="2026-07-25T03:13:55.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0" d="100"/>
          <a:sy n="60" d="100"/>
        </p:scale>
        <p:origin x="92" y="3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5682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13.sv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png"/><Relationship Id="rId7"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13.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1.png"/><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1.png"/><Relationship Id="rId7"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sv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30.pn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11.png"/><Relationship Id="rId7"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13.svg"/><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952" y="-1269968"/>
            <a:ext cx="5079873" cy="5079873"/>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16775" y="3555911"/>
            <a:ext cx="3129201" cy="3256369"/>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90895" y="5079873"/>
            <a:ext cx="3809905" cy="1732407"/>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4984" y="4317892"/>
            <a:ext cx="3174921" cy="2494388"/>
          </a:xfrm>
          <a:prstGeom prst="rect">
            <a:avLst/>
          </a:prstGeom>
        </p:spPr>
      </p:pic>
      <p:sp>
        <p:nvSpPr>
          <p:cNvPr id="7" name="Text 0"/>
          <p:cNvSpPr/>
          <p:nvPr/>
        </p:nvSpPr>
        <p:spPr>
          <a:xfrm>
            <a:off x="400474" y="1912831"/>
            <a:ext cx="10667733" cy="1460463"/>
          </a:xfrm>
          <a:prstGeom prst="rect">
            <a:avLst/>
          </a:prstGeom>
          <a:noFill/>
          <a:ln/>
        </p:spPr>
        <p:txBody>
          <a:bodyPr wrap="square" lIns="1016" tIns="1016" rIns="1016" bIns="1016" rtlCol="0" anchor="t"/>
          <a:lstStyle/>
          <a:p>
            <a:pPr marL="0" indent="0" algn="ctr">
              <a:lnSpc>
                <a:spcPct val="130000"/>
              </a:lnSpc>
              <a:buNone/>
            </a:pPr>
            <a:r>
              <a:rPr lang="en-US" sz="4000" b="1" dirty="0">
                <a:solidFill>
                  <a:srgbClr val="FFFFFF"/>
                </a:solidFill>
                <a:latin typeface="Calibri" pitchFamily="34" charset="0"/>
                <a:ea typeface="Calibri" pitchFamily="34" charset="-122"/>
                <a:cs typeface="Calibri" pitchFamily="34" charset="-120"/>
              </a:rPr>
              <a:t>Introduction to Ensemble Learning</a:t>
            </a:r>
            <a:r>
              <a:rPr lang="en-US" sz="4000" dirty="0">
                <a:solidFill>
                  <a:srgbClr val="FFFFFF"/>
                </a:solidFill>
                <a:latin typeface="Calibri" pitchFamily="34" charset="0"/>
                <a:ea typeface="Calibri" pitchFamily="34" charset="-122"/>
                <a:cs typeface="Calibri" pitchFamily="34" charset="-120"/>
              </a:rPr>
              <a:t>
</a:t>
            </a:r>
            <a:endParaRPr lang="en-US" sz="4000" dirty="0"/>
          </a:p>
        </p:txBody>
      </p:sp>
      <p:sp>
        <p:nvSpPr>
          <p:cNvPr id="8" name="Text 1"/>
          <p:cNvSpPr/>
          <p:nvPr/>
        </p:nvSpPr>
        <p:spPr>
          <a:xfrm>
            <a:off x="761981" y="3365416"/>
            <a:ext cx="10667733" cy="380990"/>
          </a:xfrm>
          <a:prstGeom prst="rect">
            <a:avLst/>
          </a:prstGeom>
          <a:noFill/>
          <a:ln/>
        </p:spPr>
        <p:txBody>
          <a:bodyPr wrap="square" lIns="1016" tIns="1016" rIns="1016" bIns="1016" rtlCol="0" anchor="t"/>
          <a:lstStyle/>
          <a:p>
            <a:pPr marL="0" indent="0" algn="ctr">
              <a:lnSpc>
                <a:spcPct val="130000"/>
              </a:lnSpc>
              <a:buNone/>
            </a:pPr>
            <a:r>
              <a:rPr lang="en-US" sz="1100" dirty="0">
                <a:solidFill>
                  <a:srgbClr val="FFFFFF"/>
                </a:solidFill>
                <a:latin typeface="Calibri" pitchFamily="34" charset="0"/>
                <a:ea typeface="Calibri" pitchFamily="34" charset="-122"/>
                <a:cs typeface="Calibri" pitchFamily="34" charset="-120"/>
              </a:rPr>
              <a:t>
</a:t>
            </a:r>
            <a:endParaRPr lang="en-US" sz="1100" dirty="0"/>
          </a:p>
        </p:txBody>
      </p:sp>
      <p:sp>
        <p:nvSpPr>
          <p:cNvPr id="9" name="Text 2"/>
          <p:cNvSpPr/>
          <p:nvPr/>
        </p:nvSpPr>
        <p:spPr>
          <a:xfrm>
            <a:off x="7378995" y="4317892"/>
            <a:ext cx="4766980" cy="1523962"/>
          </a:xfrm>
          <a:prstGeom prst="rect">
            <a:avLst/>
          </a:prstGeom>
          <a:noFill/>
          <a:ln/>
        </p:spPr>
        <p:txBody>
          <a:bodyPr wrap="square" lIns="1016" tIns="1016" rIns="1016" bIns="1016" rtlCol="0" anchor="t"/>
          <a:lstStyle/>
          <a:p>
            <a:pPr algn="ctr">
              <a:lnSpc>
                <a:spcPct val="130000"/>
              </a:lnSpc>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PRESENTED BY</a:t>
            </a:r>
          </a:p>
          <a:p>
            <a:pPr marL="0" indent="0" algn="ctr">
              <a:lnSpc>
                <a:spcPct val="130000"/>
              </a:lnSpc>
              <a:buNone/>
            </a:pPr>
            <a:r>
              <a:rPr lang="en-US" sz="2200" b="1" dirty="0" err="1">
                <a:solidFill>
                  <a:srgbClr val="FFFFFF"/>
                </a:solidFill>
                <a:latin typeface="Times New Roman" panose="02020603050405020304" pitchFamily="18" charset="0"/>
                <a:ea typeface="Calibri" pitchFamily="34" charset="-122"/>
                <a:cs typeface="Times New Roman" panose="02020603050405020304" pitchFamily="18" charset="0"/>
              </a:rPr>
              <a:t>N.Harsha</a:t>
            </a: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 Vardhan
192324189
</a:t>
            </a:r>
            <a:endParaRPr lang="en-US" sz="2200" b="1" dirty="0">
              <a:latin typeface="Times New Roman" panose="02020603050405020304" pitchFamily="18" charset="0"/>
              <a:cs typeface="Times New Roman" panose="02020603050405020304" pitchFamily="18" charset="0"/>
            </a:endParaRPr>
          </a:p>
        </p:txBody>
      </p:sp>
      <p:sp>
        <p:nvSpPr>
          <p:cNvPr id="10" name="Text 3"/>
          <p:cNvSpPr/>
          <p:nvPr/>
        </p:nvSpPr>
        <p:spPr>
          <a:xfrm>
            <a:off x="761981" y="4254394"/>
            <a:ext cx="11383994" cy="507987"/>
          </a:xfrm>
          <a:prstGeom prst="rect">
            <a:avLst/>
          </a:prstGeom>
          <a:noFill/>
          <a:ln/>
        </p:spPr>
        <p:txBody>
          <a:bodyPr wrap="square" lIns="1016" tIns="1016" rIns="1016" bIns="1016" rtlCol="0" anchor="t"/>
          <a:lstStyle/>
          <a:p>
            <a:pPr marL="0" indent="0" algn="ctr">
              <a:lnSpc>
                <a:spcPct val="130000"/>
              </a:lnSpc>
              <a:buNone/>
            </a:pPr>
            <a:r>
              <a:rPr lang="en-US" sz="1800" dirty="0">
                <a:solidFill>
                  <a:srgbClr val="FFE66D"/>
                </a:solidFill>
                <a:latin typeface="Calibri" pitchFamily="34" charset="0"/>
                <a:ea typeface="Calibri" pitchFamily="34" charset="-122"/>
                <a:cs typeface="Calibri" pitchFamily="34" charset="-120"/>
              </a:rPr>
              <a:t>
</a:t>
            </a:r>
            <a:endParaRPr lang="en-US" sz="1800" dirty="0"/>
          </a:p>
        </p:txBody>
      </p:sp>
      <p:sp>
        <p:nvSpPr>
          <p:cNvPr id="11" name="Text 4"/>
          <p:cNvSpPr/>
          <p:nvPr/>
        </p:nvSpPr>
        <p:spPr>
          <a:xfrm>
            <a:off x="761981" y="4825879"/>
            <a:ext cx="11383994" cy="507987"/>
          </a:xfrm>
          <a:prstGeom prst="rect">
            <a:avLst/>
          </a:prstGeom>
          <a:noFill/>
          <a:ln/>
        </p:spPr>
        <p:txBody>
          <a:bodyPr wrap="square" lIns="1016" tIns="1016" rIns="1016" bIns="1016" rtlCol="0" anchor="t"/>
          <a:lstStyle/>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
</a:t>
            </a:r>
            <a:endParaRPr lang="en-US" sz="1400" dirty="0"/>
          </a:p>
        </p:txBody>
      </p:sp>
      <p:sp>
        <p:nvSpPr>
          <p:cNvPr id="13" name="TextBox 12">
            <a:extLst>
              <a:ext uri="{FF2B5EF4-FFF2-40B4-BE49-F238E27FC236}">
                <a16:creationId xmlns:a16="http://schemas.microsoft.com/office/drawing/2014/main" id="{7F6DBD06-0CAE-A0A7-C31F-27091DCEF804}"/>
              </a:ext>
            </a:extLst>
          </p:cNvPr>
          <p:cNvSpPr txBox="1"/>
          <p:nvPr/>
        </p:nvSpPr>
        <p:spPr>
          <a:xfrm>
            <a:off x="489098" y="4254394"/>
            <a:ext cx="3593804" cy="1046440"/>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Guided By</a:t>
            </a:r>
          </a:p>
          <a:p>
            <a:r>
              <a:rPr lang="en-IN" sz="2200" b="1" dirty="0" err="1">
                <a:solidFill>
                  <a:schemeClr val="bg1"/>
                </a:solidFill>
                <a:latin typeface="Times New Roman" panose="02020603050405020304" pitchFamily="18" charset="0"/>
                <a:cs typeface="Times New Roman" panose="02020603050405020304" pitchFamily="18" charset="0"/>
              </a:rPr>
              <a:t>Dr.R.Kavitha</a:t>
            </a:r>
            <a:endParaRPr lang="en-IN" sz="2200" b="1" dirty="0">
              <a:solidFill>
                <a:schemeClr val="bg1"/>
              </a:solidFill>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03835" y="-634984"/>
            <a:ext cx="2539937" cy="3809905"/>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1790" y="4317892"/>
            <a:ext cx="3764185" cy="2494388"/>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9968" y="3047924"/>
            <a:ext cx="4444889" cy="3764356"/>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03835" y="-634984"/>
            <a:ext cx="2539937" cy="3809905"/>
          </a:xfrm>
          <a:prstGeom prst="rect">
            <a:avLst/>
          </a:prstGeom>
        </p:spPr>
      </p:pic>
      <p:pic>
        <p:nvPicPr>
          <p:cNvPr id="8"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1790" y="4317892"/>
            <a:ext cx="3764185" cy="2494388"/>
          </a:xfrm>
          <a:prstGeom prst="rect">
            <a:avLst/>
          </a:prstGeom>
        </p:spPr>
      </p:pic>
      <p:pic>
        <p:nvPicPr>
          <p:cNvPr id="9" name="Image 7"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9968" y="3047924"/>
            <a:ext cx="4444889" cy="3764356"/>
          </a:xfrm>
          <a:prstGeom prst="rect">
            <a:avLst/>
          </a:prstGeom>
        </p:spPr>
      </p:pic>
      <p:pic>
        <p:nvPicPr>
          <p:cNvPr id="10" name="Image 8"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9873" y="3809905"/>
            <a:ext cx="2539937" cy="2539937"/>
          </a:xfrm>
          <a:prstGeom prst="rect">
            <a:avLst/>
          </a:prstGeom>
        </p:spPr>
      </p:pic>
      <p:pic>
        <p:nvPicPr>
          <p:cNvPr id="11" name="Image 9"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9873" y="3809905"/>
            <a:ext cx="2539937" cy="2539937"/>
          </a:xfrm>
          <a:prstGeom prst="rect">
            <a:avLst/>
          </a:prstGeom>
        </p:spPr>
      </p:pic>
      <p:pic>
        <p:nvPicPr>
          <p:cNvPr id="12" name="Image 10" descr="preencoded.png"/>
          <p:cNvPicPr>
            <a:picLocks noChangeAspect="1"/>
          </p:cNvPicPr>
          <p:nvPr/>
        </p:nvPicPr>
        <p:blipFill>
          <a:blip r:embed="rId8"/>
          <a:srcRect/>
          <a:stretch/>
        </p:blipFill>
        <p:spPr>
          <a:xfrm>
            <a:off x="7619810" y="1015975"/>
            <a:ext cx="4063898" cy="4825879"/>
          </a:xfrm>
          <a:prstGeom prst="rect">
            <a:avLst/>
          </a:prstGeom>
        </p:spPr>
      </p:pic>
      <p:sp>
        <p:nvSpPr>
          <p:cNvPr id="13" name="Text 0"/>
          <p:cNvSpPr/>
          <p:nvPr/>
        </p:nvSpPr>
        <p:spPr>
          <a:xfrm>
            <a:off x="406390" y="850879"/>
            <a:ext cx="7276918" cy="1396965"/>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Introduction to Ensemble Learning
</a:t>
            </a:r>
            <a:endParaRPr lang="en-US" sz="2900" dirty="0"/>
          </a:p>
        </p:txBody>
      </p:sp>
      <p:sp>
        <p:nvSpPr>
          <p:cNvPr id="14" name="Text 1"/>
          <p:cNvSpPr/>
          <p:nvPr/>
        </p:nvSpPr>
        <p:spPr>
          <a:xfrm>
            <a:off x="380990" y="2133547"/>
            <a:ext cx="7061023" cy="4394090"/>
          </a:xfrm>
          <a:prstGeom prst="rect">
            <a:avLst/>
          </a:prstGeom>
          <a:noFill/>
          <a:ln/>
        </p:spPr>
        <p:txBody>
          <a:bodyPr wrap="square" lIns="1016" tIns="1016" rIns="1016" bIns="1016"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Ensemble learning is a powerful machine learning technique that combines multiple models to enhance predictive performance. By leveraging methods like bagging, boosting, and stacking, ensemble approaches reduce variance and bias, leading to more robust predictions. Algorithms such as Random Forest and AdaBoost exemplify this concept, demonstrating significant improvements in accuracy and reliability across various datasets. Understanding ensemble learning is crucial for developing high-performing models in complex real-world applications.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What is Ensemble Learning?
</a:t>
            </a:r>
            <a:endParaRPr lang="en-US" sz="2900" dirty="0"/>
          </a:p>
        </p:txBody>
      </p:sp>
      <p:pic>
        <p:nvPicPr>
          <p:cNvPr id="9" name="Image 6" descr="preencoded.png"/>
          <p:cNvPicPr>
            <a:picLocks noChangeAspect="1"/>
          </p:cNvPicPr>
          <p:nvPr/>
        </p:nvPicPr>
        <p:blipFill>
          <a:blip r:embed="rId6"/>
          <a:srcRect/>
          <a:stretch/>
        </p:blipFill>
        <p:spPr>
          <a:xfrm>
            <a:off x="8775481" y="0"/>
            <a:ext cx="3370495" cy="6812280"/>
          </a:xfrm>
          <a:prstGeom prst="rect">
            <a:avLst/>
          </a:prstGeom>
        </p:spPr>
      </p:pic>
      <p:sp>
        <p:nvSpPr>
          <p:cNvPr id="10" name="Shape 1"/>
          <p:cNvSpPr/>
          <p:nvPr/>
        </p:nvSpPr>
        <p:spPr>
          <a:xfrm>
            <a:off x="380990" y="1600160"/>
            <a:ext cx="3962301" cy="2133547"/>
          </a:xfrm>
          <a:prstGeom prst="rect">
            <a:avLst/>
          </a:prstGeom>
          <a:noFill/>
          <a:ln/>
        </p:spPr>
        <p:txBody>
          <a:bodyPr/>
          <a:lstStyle/>
          <a:p>
            <a:endParaRPr lang="en-IN"/>
          </a:p>
        </p:txBody>
      </p:sp>
      <p:sp>
        <p:nvSpPr>
          <p:cNvPr id="11"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Combines Multiple Models
</a:t>
            </a:r>
            <a:endParaRPr lang="en-US" sz="1300" dirty="0"/>
          </a:p>
        </p:txBody>
      </p:sp>
      <p:sp>
        <p:nvSpPr>
          <p:cNvPr id="12" name="Text 3"/>
          <p:cNvSpPr/>
          <p:nvPr/>
        </p:nvSpPr>
        <p:spPr>
          <a:xfrm>
            <a:off x="634984"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Ensemble learning integrates various models to enhance prediction accuracy, leveraging their strengths to create a more robust overall model.
</a:t>
            </a:r>
            <a:endParaRPr lang="en-US" sz="1300" dirty="0"/>
          </a:p>
        </p:txBody>
      </p:sp>
      <p:sp>
        <p:nvSpPr>
          <p:cNvPr id="13" name="Shape 4"/>
          <p:cNvSpPr/>
          <p:nvPr/>
        </p:nvSpPr>
        <p:spPr>
          <a:xfrm>
            <a:off x="4546486" y="1600160"/>
            <a:ext cx="3962301" cy="2133547"/>
          </a:xfrm>
          <a:prstGeom prst="rect">
            <a:avLst/>
          </a:prstGeom>
          <a:noFill/>
          <a:ln/>
        </p:spPr>
        <p:txBody>
          <a:bodyPr/>
          <a:lstStyle/>
          <a:p>
            <a:endParaRPr lang="en-IN"/>
          </a:p>
        </p:txBody>
      </p:sp>
      <p:sp>
        <p:nvSpPr>
          <p:cNvPr id="14"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Reduces Variance and Bias
</a:t>
            </a:r>
            <a:endParaRPr lang="en-US" sz="1300" dirty="0"/>
          </a:p>
        </p:txBody>
      </p:sp>
      <p:sp>
        <p:nvSpPr>
          <p:cNvPr id="15" name="Text 6"/>
          <p:cNvSpPr/>
          <p:nvPr/>
        </p:nvSpPr>
        <p:spPr>
          <a:xfrm>
            <a:off x="4800480"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By averaging predictions from multiple models, ensemble methods like bagging and boosting effectively minimize variance and bias, leading to improved performance.
</a:t>
            </a:r>
            <a:endParaRPr lang="en-US" sz="1300" dirty="0"/>
          </a:p>
        </p:txBody>
      </p:sp>
      <p:sp>
        <p:nvSpPr>
          <p:cNvPr id="16" name="Shape 7"/>
          <p:cNvSpPr/>
          <p:nvPr/>
        </p:nvSpPr>
        <p:spPr>
          <a:xfrm>
            <a:off x="380990" y="4241694"/>
            <a:ext cx="8140496" cy="901806"/>
          </a:xfrm>
          <a:prstGeom prst="rect">
            <a:avLst/>
          </a:prstGeom>
          <a:noFill/>
          <a:ln/>
        </p:spPr>
        <p:txBody>
          <a:bodyPr/>
          <a:lstStyle/>
          <a:p>
            <a:endParaRPr lang="en-IN"/>
          </a:p>
        </p:txBody>
      </p:sp>
      <p:sp>
        <p:nvSpPr>
          <p:cNvPr id="17" name="Text 8"/>
          <p:cNvSpPr/>
          <p:nvPr/>
        </p:nvSpPr>
        <p:spPr>
          <a:xfrm>
            <a:off x="634984" y="4470288"/>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Utilizes Diverse Algorithms
</a:t>
            </a:r>
            <a:endParaRPr lang="en-US" sz="1300" dirty="0"/>
          </a:p>
        </p:txBody>
      </p:sp>
      <p:sp>
        <p:nvSpPr>
          <p:cNvPr id="18" name="Text 9"/>
          <p:cNvSpPr/>
          <p:nvPr/>
        </p:nvSpPr>
        <p:spPr>
          <a:xfrm>
            <a:off x="634984" y="4876678"/>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Employing different algorithms, such as Random Forest and AdaBoost, ensemble learning achieves higher accuracy across various machine learning tasks, adapting to complex data patterns.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10667733"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Importance of Ensemble Learning
</a:t>
            </a:r>
            <a:endParaRPr lang="en-US" sz="2900" dirty="0"/>
          </a:p>
        </p:txBody>
      </p:sp>
      <p:sp>
        <p:nvSpPr>
          <p:cNvPr id="9" name="Shape 1"/>
          <p:cNvSpPr/>
          <p:nvPr/>
        </p:nvSpPr>
        <p:spPr>
          <a:xfrm>
            <a:off x="380990" y="1650959"/>
            <a:ext cx="3606710" cy="3492541"/>
          </a:xfrm>
          <a:prstGeom prst="rect">
            <a:avLst/>
          </a:prstGeom>
          <a:noFill/>
          <a:ln/>
        </p:spPr>
        <p:txBody>
          <a:bodyPr/>
          <a:lstStyle/>
          <a:p>
            <a:endParaRPr lang="en-IN"/>
          </a:p>
        </p:txBody>
      </p:sp>
      <p:pic>
        <p:nvPicPr>
          <p:cNvPr id="10" name="Image 6" descr="preencoded.png"/>
          <p:cNvPicPr>
            <a:picLocks noChangeAspect="1"/>
          </p:cNvPicPr>
          <p:nvPr/>
        </p:nvPicPr>
        <p:blipFill>
          <a:blip r:embed="rId6"/>
          <a:srcRect/>
          <a:stretch/>
        </p:blipFill>
        <p:spPr>
          <a:xfrm>
            <a:off x="380990" y="1650959"/>
            <a:ext cx="3606710" cy="2336742"/>
          </a:xfrm>
          <a:prstGeom prst="rect">
            <a:avLst/>
          </a:prstGeom>
        </p:spPr>
      </p:pic>
      <p:sp>
        <p:nvSpPr>
          <p:cNvPr id="11"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Enhances Predictive Performance
</a:t>
            </a:r>
            <a:endParaRPr lang="en-US" sz="1300" dirty="0"/>
          </a:p>
        </p:txBody>
      </p:sp>
      <p:sp>
        <p:nvSpPr>
          <p:cNvPr id="12"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Ensemble learning techniques can improve model accuracy by up to 10-20%, making them essential for tasks like image recognition and financial forecasting.
</a:t>
            </a:r>
            <a:endParaRPr lang="en-US" sz="1300" dirty="0"/>
          </a:p>
        </p:txBody>
      </p:sp>
      <p:sp>
        <p:nvSpPr>
          <p:cNvPr id="13" name="Shape 4"/>
          <p:cNvSpPr/>
          <p:nvPr/>
        </p:nvSpPr>
        <p:spPr>
          <a:xfrm>
            <a:off x="4292493" y="1650959"/>
            <a:ext cx="3606710" cy="3492541"/>
          </a:xfrm>
          <a:prstGeom prst="rect">
            <a:avLst/>
          </a:prstGeom>
          <a:noFill/>
          <a:ln/>
        </p:spPr>
        <p:txBody>
          <a:bodyPr/>
          <a:lstStyle/>
          <a:p>
            <a:endParaRPr lang="en-IN"/>
          </a:p>
        </p:txBody>
      </p:sp>
      <p:pic>
        <p:nvPicPr>
          <p:cNvPr id="14" name="Image 7" descr="preencoded.png"/>
          <p:cNvPicPr>
            <a:picLocks noChangeAspect="1"/>
          </p:cNvPicPr>
          <p:nvPr/>
        </p:nvPicPr>
        <p:blipFill>
          <a:blip r:embed="rId7"/>
          <a:srcRect/>
          <a:stretch/>
        </p:blipFill>
        <p:spPr>
          <a:xfrm>
            <a:off x="4292493" y="1650959"/>
            <a:ext cx="3606710" cy="2336742"/>
          </a:xfrm>
          <a:prstGeom prst="rect">
            <a:avLst/>
          </a:prstGeom>
        </p:spPr>
      </p:pic>
      <p:sp>
        <p:nvSpPr>
          <p:cNvPr id="15"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Mitigates Overfitting
</a:t>
            </a:r>
            <a:endParaRPr lang="en-US" sz="1300" dirty="0"/>
          </a:p>
        </p:txBody>
      </p:sp>
      <p:sp>
        <p:nvSpPr>
          <p:cNvPr id="16"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By averaging predictions from multiple models, ensemble methods like bagging reduce overfitting, leading to more generalized and reliable outcomes in various datasets.
</a:t>
            </a:r>
            <a:endParaRPr lang="en-US" sz="1300" dirty="0"/>
          </a:p>
        </p:txBody>
      </p:sp>
      <p:sp>
        <p:nvSpPr>
          <p:cNvPr id="17" name="Shape 7"/>
          <p:cNvSpPr/>
          <p:nvPr/>
        </p:nvSpPr>
        <p:spPr>
          <a:xfrm>
            <a:off x="8203995" y="1650959"/>
            <a:ext cx="940005" cy="3492541"/>
          </a:xfrm>
          <a:prstGeom prst="rect">
            <a:avLst/>
          </a:prstGeom>
          <a:noFill/>
          <a:ln/>
        </p:spPr>
        <p:txBody>
          <a:bodyPr/>
          <a:lstStyle/>
          <a:p>
            <a:endParaRPr lang="en-IN"/>
          </a:p>
        </p:txBody>
      </p:sp>
      <p:pic>
        <p:nvPicPr>
          <p:cNvPr id="18" name="Image 8" descr="preencoded.png"/>
          <p:cNvPicPr>
            <a:picLocks noChangeAspect="1"/>
          </p:cNvPicPr>
          <p:nvPr/>
        </p:nvPicPr>
        <p:blipFill>
          <a:blip r:embed="rId8"/>
          <a:srcRect/>
          <a:stretch/>
        </p:blipFill>
        <p:spPr>
          <a:xfrm>
            <a:off x="8203995" y="1650959"/>
            <a:ext cx="3606710" cy="2336742"/>
          </a:xfrm>
          <a:prstGeom prst="rect">
            <a:avLst/>
          </a:prstGeom>
        </p:spPr>
      </p:pic>
      <p:sp>
        <p:nvSpPr>
          <p:cNvPr id="19"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Increases Robustness
</a:t>
            </a:r>
            <a:endParaRPr lang="en-US" sz="1300" dirty="0"/>
          </a:p>
        </p:txBody>
      </p:sp>
      <p:sp>
        <p:nvSpPr>
          <p:cNvPr id="20"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Ensemble methods enhance model robustness against noise, ensuring consistent performance even in real-world applications where data quality may vary significantly.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Understanding Bagging Technique
</a:t>
            </a:r>
            <a:endParaRPr lang="en-US" sz="2900" dirty="0"/>
          </a:p>
        </p:txBody>
      </p:sp>
      <p:pic>
        <p:nvPicPr>
          <p:cNvPr id="9" name="Image 6" descr="preencoded.png"/>
          <p:cNvPicPr>
            <a:picLocks noChangeAspect="1"/>
          </p:cNvPicPr>
          <p:nvPr/>
        </p:nvPicPr>
        <p:blipFill>
          <a:blip r:embed="rId6"/>
          <a:srcRect/>
          <a:stretch/>
        </p:blipFill>
        <p:spPr>
          <a:xfrm>
            <a:off x="8775481" y="0"/>
            <a:ext cx="3370495" cy="6812280"/>
          </a:xfrm>
          <a:prstGeom prst="rect">
            <a:avLst/>
          </a:prstGeom>
        </p:spPr>
      </p:pic>
      <p:sp>
        <p:nvSpPr>
          <p:cNvPr id="10" name="Shape 1"/>
          <p:cNvSpPr/>
          <p:nvPr/>
        </p:nvSpPr>
        <p:spPr>
          <a:xfrm>
            <a:off x="380990" y="1600160"/>
            <a:ext cx="3962301" cy="2438339"/>
          </a:xfrm>
          <a:prstGeom prst="rect">
            <a:avLst/>
          </a:prstGeom>
          <a:noFill/>
          <a:ln/>
        </p:spPr>
        <p:txBody>
          <a:bodyPr/>
          <a:lstStyle/>
          <a:p>
            <a:endParaRPr lang="en-IN"/>
          </a:p>
        </p:txBody>
      </p:sp>
      <p:sp>
        <p:nvSpPr>
          <p:cNvPr id="11"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Definition of Bagging
</a:t>
            </a:r>
            <a:endParaRPr lang="en-US" sz="1300" dirty="0"/>
          </a:p>
        </p:txBody>
      </p:sp>
      <p:sp>
        <p:nvSpPr>
          <p:cNvPr id="12" name="Text 3"/>
          <p:cNvSpPr/>
          <p:nvPr/>
        </p:nvSpPr>
        <p:spPr>
          <a:xfrm>
            <a:off x="634984" y="2235144"/>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Bagging, or Bootstrap Aggregating, is an ensemble learning technique that improves model stability and accuracy by combining predictions from multiple models trained on different data subsets.
</a:t>
            </a:r>
            <a:endParaRPr lang="en-US" sz="1300" dirty="0"/>
          </a:p>
        </p:txBody>
      </p:sp>
      <p:sp>
        <p:nvSpPr>
          <p:cNvPr id="13" name="Shape 4"/>
          <p:cNvSpPr/>
          <p:nvPr/>
        </p:nvSpPr>
        <p:spPr>
          <a:xfrm>
            <a:off x="4546486" y="1600160"/>
            <a:ext cx="3962301" cy="2438339"/>
          </a:xfrm>
          <a:prstGeom prst="rect">
            <a:avLst/>
          </a:prstGeom>
          <a:noFill/>
          <a:ln/>
        </p:spPr>
        <p:txBody>
          <a:bodyPr/>
          <a:lstStyle/>
          <a:p>
            <a:endParaRPr lang="en-IN"/>
          </a:p>
        </p:txBody>
      </p:sp>
      <p:sp>
        <p:nvSpPr>
          <p:cNvPr id="14"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Data Subsets Creation
</a:t>
            </a:r>
            <a:endParaRPr lang="en-US" sz="1300" dirty="0"/>
          </a:p>
        </p:txBody>
      </p:sp>
      <p:sp>
        <p:nvSpPr>
          <p:cNvPr id="15" name="Text 6"/>
          <p:cNvSpPr/>
          <p:nvPr/>
        </p:nvSpPr>
        <p:spPr>
          <a:xfrm>
            <a:off x="4800480" y="2235144"/>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Bagging creates multiple subsets of the training data through random sampling with replacement, allowing each model to learn from varied data points and reducing overfitting.
</a:t>
            </a:r>
            <a:endParaRPr lang="en-US" sz="1300" dirty="0"/>
          </a:p>
        </p:txBody>
      </p:sp>
      <p:sp>
        <p:nvSpPr>
          <p:cNvPr id="16" name="Shape 7"/>
          <p:cNvSpPr/>
          <p:nvPr/>
        </p:nvSpPr>
        <p:spPr>
          <a:xfrm>
            <a:off x="380990" y="4546486"/>
            <a:ext cx="8140496" cy="597014"/>
          </a:xfrm>
          <a:prstGeom prst="rect">
            <a:avLst/>
          </a:prstGeom>
          <a:noFill/>
          <a:ln/>
        </p:spPr>
        <p:txBody>
          <a:bodyPr/>
          <a:lstStyle/>
          <a:p>
            <a:endParaRPr lang="en-IN"/>
          </a:p>
        </p:txBody>
      </p:sp>
      <p:sp>
        <p:nvSpPr>
          <p:cNvPr id="17" name="Text 8"/>
          <p:cNvSpPr/>
          <p:nvPr/>
        </p:nvSpPr>
        <p:spPr>
          <a:xfrm>
            <a:off x="634984" y="477508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Variance Reduction
</a:t>
            </a:r>
            <a:endParaRPr lang="en-US" sz="1300" dirty="0"/>
          </a:p>
        </p:txBody>
      </p:sp>
      <p:sp>
        <p:nvSpPr>
          <p:cNvPr id="18" name="Text 9"/>
          <p:cNvSpPr/>
          <p:nvPr/>
        </p:nvSpPr>
        <p:spPr>
          <a:xfrm>
            <a:off x="634984" y="5181470"/>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By averaging the outputs of individual models, bagging effectively reduces variance, leading to more robust predictions and improved performance, especially in complex datasets.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10667733"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Exploring Boosting Techniques
</a:t>
            </a:r>
            <a:endParaRPr lang="en-US" sz="2900" dirty="0"/>
          </a:p>
        </p:txBody>
      </p:sp>
      <p:sp>
        <p:nvSpPr>
          <p:cNvPr id="9" name="Shape 1"/>
          <p:cNvSpPr/>
          <p:nvPr/>
        </p:nvSpPr>
        <p:spPr>
          <a:xfrm>
            <a:off x="380990" y="1650959"/>
            <a:ext cx="3606710" cy="3492541"/>
          </a:xfrm>
          <a:prstGeom prst="rect">
            <a:avLst/>
          </a:prstGeom>
          <a:noFill/>
          <a:ln/>
        </p:spPr>
        <p:txBody>
          <a:bodyPr/>
          <a:lstStyle/>
          <a:p>
            <a:endParaRPr lang="en-IN"/>
          </a:p>
        </p:txBody>
      </p:sp>
      <p:pic>
        <p:nvPicPr>
          <p:cNvPr id="10" name="Image 6" descr="preencoded.png"/>
          <p:cNvPicPr>
            <a:picLocks noChangeAspect="1"/>
          </p:cNvPicPr>
          <p:nvPr/>
        </p:nvPicPr>
        <p:blipFill>
          <a:blip r:embed="rId6"/>
          <a:srcRect/>
          <a:stretch/>
        </p:blipFill>
        <p:spPr>
          <a:xfrm>
            <a:off x="380990" y="1650959"/>
            <a:ext cx="3606710" cy="2336742"/>
          </a:xfrm>
          <a:prstGeom prst="rect">
            <a:avLst/>
          </a:prstGeom>
        </p:spPr>
      </p:pic>
      <p:sp>
        <p:nvSpPr>
          <p:cNvPr id="11"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Sequential Model Building
</a:t>
            </a:r>
            <a:endParaRPr lang="en-US" sz="1300" dirty="0"/>
          </a:p>
        </p:txBody>
      </p:sp>
      <p:sp>
        <p:nvSpPr>
          <p:cNvPr id="12"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Boosting constructs models sequentially, where each new model focuses on correcting errors made by its predecessor, enhancing overall predictive accuracy.
</a:t>
            </a:r>
            <a:endParaRPr lang="en-US" sz="1300" dirty="0"/>
          </a:p>
        </p:txBody>
      </p:sp>
      <p:sp>
        <p:nvSpPr>
          <p:cNvPr id="13" name="Shape 4"/>
          <p:cNvSpPr/>
          <p:nvPr/>
        </p:nvSpPr>
        <p:spPr>
          <a:xfrm>
            <a:off x="4292493" y="1650959"/>
            <a:ext cx="3606710" cy="3492541"/>
          </a:xfrm>
          <a:prstGeom prst="rect">
            <a:avLst/>
          </a:prstGeom>
          <a:noFill/>
          <a:ln/>
        </p:spPr>
        <p:txBody>
          <a:bodyPr/>
          <a:lstStyle/>
          <a:p>
            <a:endParaRPr lang="en-IN"/>
          </a:p>
        </p:txBody>
      </p:sp>
      <p:pic>
        <p:nvPicPr>
          <p:cNvPr id="14" name="Image 7" descr="preencoded.png"/>
          <p:cNvPicPr>
            <a:picLocks noChangeAspect="1"/>
          </p:cNvPicPr>
          <p:nvPr/>
        </p:nvPicPr>
        <p:blipFill>
          <a:blip r:embed="rId7"/>
          <a:srcRect/>
          <a:stretch/>
        </p:blipFill>
        <p:spPr>
          <a:xfrm>
            <a:off x="4292493" y="1650959"/>
            <a:ext cx="3606710" cy="2336742"/>
          </a:xfrm>
          <a:prstGeom prst="rect">
            <a:avLst/>
          </a:prstGeom>
        </p:spPr>
      </p:pic>
      <p:sp>
        <p:nvSpPr>
          <p:cNvPr id="15"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Focus on Misclassifications
</a:t>
            </a:r>
            <a:endParaRPr lang="en-US" sz="1300" dirty="0"/>
          </a:p>
        </p:txBody>
      </p:sp>
      <p:sp>
        <p:nvSpPr>
          <p:cNvPr id="16"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Boosting algorithms prioritize misclassified instances from previous models, allowing subsequent models to learn from these errors and improve performance.
</a:t>
            </a:r>
            <a:endParaRPr lang="en-US" sz="1300" dirty="0"/>
          </a:p>
        </p:txBody>
      </p:sp>
      <p:sp>
        <p:nvSpPr>
          <p:cNvPr id="17" name="Shape 7"/>
          <p:cNvSpPr/>
          <p:nvPr/>
        </p:nvSpPr>
        <p:spPr>
          <a:xfrm>
            <a:off x="8203995" y="1650959"/>
            <a:ext cx="940005" cy="3492541"/>
          </a:xfrm>
          <a:prstGeom prst="rect">
            <a:avLst/>
          </a:prstGeom>
          <a:noFill/>
          <a:ln/>
        </p:spPr>
        <p:txBody>
          <a:bodyPr/>
          <a:lstStyle/>
          <a:p>
            <a:endParaRPr lang="en-IN"/>
          </a:p>
        </p:txBody>
      </p:sp>
      <p:pic>
        <p:nvPicPr>
          <p:cNvPr id="18" name="Image 8" descr="preencoded.png"/>
          <p:cNvPicPr>
            <a:picLocks noChangeAspect="1"/>
          </p:cNvPicPr>
          <p:nvPr/>
        </p:nvPicPr>
        <p:blipFill>
          <a:blip r:embed="rId8"/>
          <a:srcRect/>
          <a:stretch/>
        </p:blipFill>
        <p:spPr>
          <a:xfrm>
            <a:off x="8203995" y="1650959"/>
            <a:ext cx="3606710" cy="2336742"/>
          </a:xfrm>
          <a:prstGeom prst="rect">
            <a:avLst/>
          </a:prstGeom>
        </p:spPr>
      </p:pic>
      <p:sp>
        <p:nvSpPr>
          <p:cNvPr id="19"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AdaBoost Algorithm
</a:t>
            </a:r>
            <a:endParaRPr lang="en-US" sz="1300" dirty="0"/>
          </a:p>
        </p:txBody>
      </p:sp>
      <p:sp>
        <p:nvSpPr>
          <p:cNvPr id="20"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AdaBoost, a prominent boosting algorithm, combines multiple weak learners to create a strong classifier, significantly increasing accuracy in various applications.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7765" y="2539937"/>
            <a:ext cx="2748210" cy="3809905"/>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5975" y="2539937"/>
            <a:ext cx="3809905" cy="3809905"/>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7765" y="2539937"/>
            <a:ext cx="2748210" cy="3809905"/>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5975" y="2539937"/>
            <a:ext cx="3809905" cy="3809905"/>
          </a:xfrm>
          <a:prstGeom prst="rect">
            <a:avLst/>
          </a:prstGeom>
        </p:spPr>
      </p:pic>
      <p:pic>
        <p:nvPicPr>
          <p:cNvPr id="8" name="Image 6"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33867" y="2539937"/>
            <a:ext cx="1523962" cy="2539937"/>
          </a:xfrm>
          <a:prstGeom prst="rect">
            <a:avLst/>
          </a:prstGeom>
        </p:spPr>
      </p:pic>
      <p:pic>
        <p:nvPicPr>
          <p:cNvPr id="9" name="Image 7"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33867" y="2539937"/>
            <a:ext cx="1523962" cy="2539937"/>
          </a:xfrm>
          <a:prstGeom prst="rect">
            <a:avLst/>
          </a:prstGeom>
        </p:spPr>
      </p:pic>
      <p:sp>
        <p:nvSpPr>
          <p:cNvPr id="10" name="Text 0"/>
          <p:cNvSpPr/>
          <p:nvPr/>
        </p:nvSpPr>
        <p:spPr>
          <a:xfrm>
            <a:off x="761981" y="507987"/>
            <a:ext cx="10667733" cy="888978"/>
          </a:xfrm>
          <a:prstGeom prst="rect">
            <a:avLst/>
          </a:prstGeom>
          <a:noFill/>
          <a:ln/>
        </p:spPr>
        <p:txBody>
          <a:bodyPr wrap="square" lIns="1016" tIns="1016" rIns="1016" bIns="1016" rtlCol="0" anchor="t"/>
          <a:lstStyle/>
          <a:p>
            <a:pPr marL="0" indent="0" algn="l">
              <a:lnSpc>
                <a:spcPct val="130000"/>
              </a:lnSpc>
              <a:buNone/>
            </a:pPr>
            <a:r>
              <a:rPr lang="en-US" sz="2900" dirty="0">
                <a:solidFill>
                  <a:srgbClr val="FFFFFF"/>
                </a:solidFill>
                <a:latin typeface="Calibri" pitchFamily="34" charset="0"/>
                <a:ea typeface="Calibri" pitchFamily="34" charset="-122"/>
                <a:cs typeface="Calibri" pitchFamily="34" charset="-120"/>
              </a:rPr>
              <a:t>Bagging vs Boosting
</a:t>
            </a:r>
            <a:endParaRPr lang="en-US" sz="2900" dirty="0"/>
          </a:p>
        </p:txBody>
      </p:sp>
      <p:sp>
        <p:nvSpPr>
          <p:cNvPr id="11" name="Text 1"/>
          <p:cNvSpPr/>
          <p:nvPr/>
        </p:nvSpPr>
        <p:spPr>
          <a:xfrm>
            <a:off x="761981" y="1650959"/>
            <a:ext cx="5079873" cy="444489"/>
          </a:xfrm>
          <a:prstGeom prst="rect">
            <a:avLst/>
          </a:prstGeom>
          <a:noFill/>
          <a:ln/>
        </p:spPr>
        <p:txBody>
          <a:bodyPr wrap="square" lIns="1016" tIns="1016" rIns="1016" bIns="1016" rtlCol="0" anchor="t"/>
          <a:lstStyle/>
          <a:p>
            <a:pPr marL="0" indent="0" algn="l">
              <a:lnSpc>
                <a:spcPct val="130000"/>
              </a:lnSpc>
              <a:buNone/>
            </a:pPr>
            <a:r>
              <a:rPr lang="en-US" sz="1600" b="1" dirty="0">
                <a:solidFill>
                  <a:srgbClr val="FFFFFF"/>
                </a:solidFill>
                <a:latin typeface="Calibri" pitchFamily="34" charset="0"/>
                <a:ea typeface="Calibri" pitchFamily="34" charset="-122"/>
                <a:cs typeface="Calibri" pitchFamily="34" charset="-120"/>
              </a:rPr>
              <a:t>Bagging
</a:t>
            </a:r>
            <a:endParaRPr lang="en-US" sz="1600" dirty="0"/>
          </a:p>
        </p:txBody>
      </p:sp>
      <p:sp>
        <p:nvSpPr>
          <p:cNvPr id="12" name="Text 2"/>
          <p:cNvSpPr/>
          <p:nvPr/>
        </p:nvSpPr>
        <p:spPr>
          <a:xfrm>
            <a:off x="761981" y="2222444"/>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Reduces variance by averaging predictions from multiple models.
</a:t>
            </a:r>
            <a:endParaRPr lang="en-US" sz="1300" dirty="0"/>
          </a:p>
        </p:txBody>
      </p:sp>
      <p:sp>
        <p:nvSpPr>
          <p:cNvPr id="13" name="Text 3"/>
          <p:cNvSpPr/>
          <p:nvPr/>
        </p:nvSpPr>
        <p:spPr>
          <a:xfrm>
            <a:off x="761981" y="2857429"/>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Trains models independently on different subsets of data.
</a:t>
            </a:r>
            <a:endParaRPr lang="en-US" sz="1300" dirty="0"/>
          </a:p>
        </p:txBody>
      </p:sp>
      <p:sp>
        <p:nvSpPr>
          <p:cNvPr id="14" name="Text 4"/>
          <p:cNvSpPr/>
          <p:nvPr/>
        </p:nvSpPr>
        <p:spPr>
          <a:xfrm>
            <a:off x="761981" y="3492413"/>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Utilizes simple averaging to combine model outputs.
</a:t>
            </a:r>
            <a:endParaRPr lang="en-US" sz="1300" dirty="0"/>
          </a:p>
        </p:txBody>
      </p:sp>
      <p:sp>
        <p:nvSpPr>
          <p:cNvPr id="15" name="Text 5"/>
          <p:cNvSpPr/>
          <p:nvPr/>
        </p:nvSpPr>
        <p:spPr>
          <a:xfrm>
            <a:off x="761981" y="4127397"/>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Effective for high-variance models like decision trees.
</a:t>
            </a:r>
            <a:endParaRPr lang="en-US" sz="1300" dirty="0"/>
          </a:p>
        </p:txBody>
      </p:sp>
      <p:sp>
        <p:nvSpPr>
          <p:cNvPr id="16" name="Text 6"/>
          <p:cNvSpPr/>
          <p:nvPr/>
        </p:nvSpPr>
        <p:spPr>
          <a:xfrm>
            <a:off x="761981" y="4762381"/>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Examples include Random Forest, which builds multiple trees.
</a:t>
            </a:r>
            <a:endParaRPr lang="en-US" sz="1300" dirty="0"/>
          </a:p>
        </p:txBody>
      </p:sp>
      <p:sp>
        <p:nvSpPr>
          <p:cNvPr id="17" name="Text 7"/>
          <p:cNvSpPr/>
          <p:nvPr/>
        </p:nvSpPr>
        <p:spPr>
          <a:xfrm>
            <a:off x="6349841" y="1650959"/>
            <a:ext cx="5079873" cy="444489"/>
          </a:xfrm>
          <a:prstGeom prst="rect">
            <a:avLst/>
          </a:prstGeom>
          <a:noFill/>
          <a:ln/>
        </p:spPr>
        <p:txBody>
          <a:bodyPr wrap="square" lIns="1016" tIns="1016" rIns="1016" bIns="1016" rtlCol="0" anchor="t"/>
          <a:lstStyle/>
          <a:p>
            <a:pPr marL="0" indent="0" algn="l">
              <a:lnSpc>
                <a:spcPct val="130000"/>
              </a:lnSpc>
              <a:buNone/>
            </a:pPr>
            <a:r>
              <a:rPr lang="en-US" sz="1600" b="1" dirty="0">
                <a:solidFill>
                  <a:srgbClr val="FFFFFF"/>
                </a:solidFill>
                <a:latin typeface="Calibri" pitchFamily="34" charset="0"/>
                <a:ea typeface="Calibri" pitchFamily="34" charset="-122"/>
                <a:cs typeface="Calibri" pitchFamily="34" charset="-120"/>
              </a:rPr>
              <a:t>Boosting
</a:t>
            </a:r>
            <a:endParaRPr lang="en-US" sz="1600" dirty="0"/>
          </a:p>
        </p:txBody>
      </p:sp>
      <p:sp>
        <p:nvSpPr>
          <p:cNvPr id="18" name="Text 8"/>
          <p:cNvSpPr/>
          <p:nvPr/>
        </p:nvSpPr>
        <p:spPr>
          <a:xfrm>
            <a:off x="6349841" y="2222444"/>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Reduces bias by sequentially improving model predictions.
</a:t>
            </a:r>
            <a:endParaRPr lang="en-US" sz="1300" dirty="0"/>
          </a:p>
        </p:txBody>
      </p:sp>
      <p:sp>
        <p:nvSpPr>
          <p:cNvPr id="19" name="Text 9"/>
          <p:cNvSpPr/>
          <p:nvPr/>
        </p:nvSpPr>
        <p:spPr>
          <a:xfrm>
            <a:off x="6349841" y="2857429"/>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Trains models in a sequential manner, each focusing on errors of the previous.
</a:t>
            </a:r>
            <a:endParaRPr lang="en-US" sz="1300" dirty="0"/>
          </a:p>
        </p:txBody>
      </p:sp>
      <p:sp>
        <p:nvSpPr>
          <p:cNvPr id="20" name="Text 10"/>
          <p:cNvSpPr/>
          <p:nvPr/>
        </p:nvSpPr>
        <p:spPr>
          <a:xfrm>
            <a:off x="6349841" y="3492413"/>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Uses weighted sums to combine model outputs, emphasizing harder-to-predict instances.
</a:t>
            </a:r>
            <a:endParaRPr lang="en-US" sz="1300" dirty="0"/>
          </a:p>
        </p:txBody>
      </p:sp>
      <p:sp>
        <p:nvSpPr>
          <p:cNvPr id="21" name="Text 11"/>
          <p:cNvSpPr/>
          <p:nvPr/>
        </p:nvSpPr>
        <p:spPr>
          <a:xfrm>
            <a:off x="6349841" y="4127397"/>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Effective for low-bias models, enhancing their performance.
</a:t>
            </a:r>
            <a:endParaRPr lang="en-US" sz="1300" dirty="0"/>
          </a:p>
        </p:txBody>
      </p:sp>
      <p:sp>
        <p:nvSpPr>
          <p:cNvPr id="22" name="Text 12"/>
          <p:cNvSpPr/>
          <p:nvPr/>
        </p:nvSpPr>
        <p:spPr>
          <a:xfrm>
            <a:off x="6349841" y="4762381"/>
            <a:ext cx="5079873" cy="634984"/>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 Examples include AdaBoost, which adjusts weights based on misclassifications.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10667733"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Understanding Stacking Technique
</a:t>
            </a:r>
            <a:endParaRPr lang="en-US" sz="2900" dirty="0"/>
          </a:p>
        </p:txBody>
      </p:sp>
      <p:sp>
        <p:nvSpPr>
          <p:cNvPr id="9" name="Shape 1"/>
          <p:cNvSpPr/>
          <p:nvPr/>
        </p:nvSpPr>
        <p:spPr>
          <a:xfrm>
            <a:off x="380990" y="1650959"/>
            <a:ext cx="3606710" cy="3492541"/>
          </a:xfrm>
          <a:prstGeom prst="rect">
            <a:avLst/>
          </a:prstGeom>
          <a:noFill/>
          <a:ln/>
        </p:spPr>
        <p:txBody>
          <a:bodyPr/>
          <a:lstStyle/>
          <a:p>
            <a:endParaRPr lang="en-IN"/>
          </a:p>
        </p:txBody>
      </p:sp>
      <p:pic>
        <p:nvPicPr>
          <p:cNvPr id="10" name="Image 6" descr="preencoded.png"/>
          <p:cNvPicPr>
            <a:picLocks noChangeAspect="1"/>
          </p:cNvPicPr>
          <p:nvPr/>
        </p:nvPicPr>
        <p:blipFill>
          <a:blip r:embed="rId6"/>
          <a:srcRect/>
          <a:stretch/>
        </p:blipFill>
        <p:spPr>
          <a:xfrm>
            <a:off x="380990" y="1650959"/>
            <a:ext cx="3606710" cy="2336742"/>
          </a:xfrm>
          <a:prstGeom prst="rect">
            <a:avLst/>
          </a:prstGeom>
        </p:spPr>
      </p:pic>
      <p:sp>
        <p:nvSpPr>
          <p:cNvPr id="11"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Combining Multiple Models
</a:t>
            </a:r>
            <a:endParaRPr lang="en-US" sz="1300" dirty="0"/>
          </a:p>
        </p:txBody>
      </p:sp>
      <p:sp>
        <p:nvSpPr>
          <p:cNvPr id="12"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Stacking integrates predictions from various models, enhancing overall accuracy. This method effectively reduces errors by leveraging the strengths of each individual model.
</a:t>
            </a:r>
            <a:endParaRPr lang="en-US" sz="1300" dirty="0"/>
          </a:p>
        </p:txBody>
      </p:sp>
      <p:sp>
        <p:nvSpPr>
          <p:cNvPr id="13" name="Shape 4"/>
          <p:cNvSpPr/>
          <p:nvPr/>
        </p:nvSpPr>
        <p:spPr>
          <a:xfrm>
            <a:off x="4292493" y="1650959"/>
            <a:ext cx="3606710" cy="3492541"/>
          </a:xfrm>
          <a:prstGeom prst="rect">
            <a:avLst/>
          </a:prstGeom>
          <a:noFill/>
          <a:ln/>
        </p:spPr>
        <p:txBody>
          <a:bodyPr/>
          <a:lstStyle/>
          <a:p>
            <a:endParaRPr lang="en-IN"/>
          </a:p>
        </p:txBody>
      </p:sp>
      <p:pic>
        <p:nvPicPr>
          <p:cNvPr id="14" name="Image 7" descr="preencoded.png"/>
          <p:cNvPicPr>
            <a:picLocks noChangeAspect="1"/>
          </p:cNvPicPr>
          <p:nvPr/>
        </p:nvPicPr>
        <p:blipFill>
          <a:blip r:embed="rId7"/>
          <a:srcRect/>
          <a:stretch/>
        </p:blipFill>
        <p:spPr>
          <a:xfrm>
            <a:off x="4292493" y="1650959"/>
            <a:ext cx="3606710" cy="2336742"/>
          </a:xfrm>
          <a:prstGeom prst="rect">
            <a:avLst/>
          </a:prstGeom>
        </p:spPr>
      </p:pic>
      <p:sp>
        <p:nvSpPr>
          <p:cNvPr id="15"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Meta-Learner Integration
</a:t>
            </a:r>
            <a:endParaRPr lang="en-US" sz="1300" dirty="0"/>
          </a:p>
        </p:txBody>
      </p:sp>
      <p:sp>
        <p:nvSpPr>
          <p:cNvPr id="16"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 meta-learner synthesizes outputs from base models, optimizing final predictions. This layer learns to weigh contributions, improving performance on complex datasets.
</a:t>
            </a:r>
            <a:endParaRPr lang="en-US" sz="1300" dirty="0"/>
          </a:p>
        </p:txBody>
      </p:sp>
      <p:sp>
        <p:nvSpPr>
          <p:cNvPr id="17" name="Shape 7"/>
          <p:cNvSpPr/>
          <p:nvPr/>
        </p:nvSpPr>
        <p:spPr>
          <a:xfrm>
            <a:off x="8203995" y="1650959"/>
            <a:ext cx="940005" cy="3492541"/>
          </a:xfrm>
          <a:prstGeom prst="rect">
            <a:avLst/>
          </a:prstGeom>
          <a:noFill/>
          <a:ln/>
        </p:spPr>
        <p:txBody>
          <a:bodyPr/>
          <a:lstStyle/>
          <a:p>
            <a:endParaRPr lang="en-IN"/>
          </a:p>
        </p:txBody>
      </p:sp>
      <p:pic>
        <p:nvPicPr>
          <p:cNvPr id="18" name="Image 8" descr="preencoded.png"/>
          <p:cNvPicPr>
            <a:picLocks noChangeAspect="1"/>
          </p:cNvPicPr>
          <p:nvPr/>
        </p:nvPicPr>
        <p:blipFill>
          <a:blip r:embed="rId8"/>
          <a:srcRect/>
          <a:stretch/>
        </p:blipFill>
        <p:spPr>
          <a:xfrm>
            <a:off x="8203995" y="1650959"/>
            <a:ext cx="3606710" cy="2336742"/>
          </a:xfrm>
          <a:prstGeom prst="rect">
            <a:avLst/>
          </a:prstGeom>
        </p:spPr>
      </p:pic>
      <p:sp>
        <p:nvSpPr>
          <p:cNvPr id="19"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Leveraging Diverse Algorithms
</a:t>
            </a:r>
            <a:endParaRPr lang="en-US" sz="1300" dirty="0"/>
          </a:p>
        </p:txBody>
      </p:sp>
      <p:sp>
        <p:nvSpPr>
          <p:cNvPr id="20"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Stacking can utilize different algorithms, such as decision trees and neural networks, to capture varied data patterns, leading to more robust predictions.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9968" y="4444889"/>
            <a:ext cx="444488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54794" y="-1523962"/>
            <a:ext cx="3891182" cy="5714857"/>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9968" y="4444889"/>
            <a:ext cx="444488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54794" y="-1523962"/>
            <a:ext cx="3891182" cy="5714857"/>
          </a:xfrm>
          <a:prstGeom prst="rect">
            <a:avLst/>
          </a:prstGeom>
        </p:spPr>
      </p:pic>
      <p:sp>
        <p:nvSpPr>
          <p:cNvPr id="8" name="Text 0"/>
          <p:cNvSpPr/>
          <p:nvPr/>
        </p:nvSpPr>
        <p:spPr>
          <a:xfrm>
            <a:off x="761981" y="507987"/>
            <a:ext cx="10667733" cy="888978"/>
          </a:xfrm>
          <a:prstGeom prst="rect">
            <a:avLst/>
          </a:prstGeom>
          <a:noFill/>
          <a:ln/>
        </p:spPr>
        <p:txBody>
          <a:bodyPr wrap="square" lIns="1016" tIns="1016" rIns="1016" bIns="1016" rtlCol="0" anchor="t"/>
          <a:lstStyle/>
          <a:p>
            <a:pPr marL="0" indent="0" algn="l">
              <a:lnSpc>
                <a:spcPct val="130000"/>
              </a:lnSpc>
              <a:buNone/>
            </a:pPr>
            <a:r>
              <a:rPr lang="en-US" sz="2900" dirty="0">
                <a:solidFill>
                  <a:srgbClr val="FFFFFF"/>
                </a:solidFill>
                <a:latin typeface="Calibri" pitchFamily="34" charset="0"/>
                <a:ea typeface="Calibri" pitchFamily="34" charset="-122"/>
                <a:cs typeface="Calibri" pitchFamily="34" charset="-120"/>
              </a:rPr>
              <a:t>Transformative Impact of Ensemble Learning
</a:t>
            </a:r>
            <a:endParaRPr lang="en-US" sz="2900" dirty="0"/>
          </a:p>
        </p:txBody>
      </p:sp>
      <p:sp>
        <p:nvSpPr>
          <p:cNvPr id="9" name="Text 1"/>
          <p:cNvSpPr/>
          <p:nvPr/>
        </p:nvSpPr>
        <p:spPr>
          <a:xfrm>
            <a:off x="761981" y="1777956"/>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FFFFFF"/>
                </a:solidFill>
                <a:latin typeface="Calibri" pitchFamily="34" charset="0"/>
                <a:ea typeface="Calibri" pitchFamily="34" charset="-122"/>
                <a:cs typeface="Calibri" pitchFamily="34" charset="-120"/>
              </a:rPr>
              <a:t>10%
</a:t>
            </a:r>
            <a:endParaRPr lang="en-US" sz="4300" dirty="0"/>
          </a:p>
        </p:txBody>
      </p:sp>
      <p:sp>
        <p:nvSpPr>
          <p:cNvPr id="10" name="Text 2"/>
          <p:cNvSpPr/>
          <p:nvPr/>
        </p:nvSpPr>
        <p:spPr>
          <a:xfrm>
            <a:off x="761981" y="2857429"/>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FFFFFF"/>
                </a:solidFill>
                <a:latin typeface="Calibri" pitchFamily="34" charset="0"/>
                <a:ea typeface="Calibri" pitchFamily="34" charset="-122"/>
                <a:cs typeface="Calibri" pitchFamily="34" charset="-120"/>
              </a:rPr>
              <a:t>Accuracy Improvement
</a:t>
            </a:r>
            <a:endParaRPr lang="en-US" sz="1600" dirty="0"/>
          </a:p>
        </p:txBody>
      </p:sp>
      <p:sp>
        <p:nvSpPr>
          <p:cNvPr id="11" name="Text 3"/>
          <p:cNvSpPr/>
          <p:nvPr/>
        </p:nvSpPr>
        <p:spPr>
          <a:xfrm>
            <a:off x="761981" y="3301917"/>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Ensemble methods can enhance model accuracy by up to 10%.
</a:t>
            </a:r>
            <a:endParaRPr lang="en-US" sz="1300" dirty="0"/>
          </a:p>
        </p:txBody>
      </p:sp>
      <p:sp>
        <p:nvSpPr>
          <p:cNvPr id="12" name="Text 4"/>
          <p:cNvSpPr/>
          <p:nvPr/>
        </p:nvSpPr>
        <p:spPr>
          <a:xfrm>
            <a:off x="4487221" y="1777956"/>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FFFFFF"/>
                </a:solidFill>
                <a:latin typeface="Calibri" pitchFamily="34" charset="0"/>
                <a:ea typeface="Calibri" pitchFamily="34" charset="-122"/>
                <a:cs typeface="Calibri" pitchFamily="34" charset="-120"/>
              </a:rPr>
              <a:t>30%
</a:t>
            </a:r>
            <a:endParaRPr lang="en-US" sz="4300" dirty="0"/>
          </a:p>
        </p:txBody>
      </p:sp>
      <p:sp>
        <p:nvSpPr>
          <p:cNvPr id="13" name="Text 5"/>
          <p:cNvSpPr/>
          <p:nvPr/>
        </p:nvSpPr>
        <p:spPr>
          <a:xfrm>
            <a:off x="4487221" y="2857429"/>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FFFFFF"/>
                </a:solidFill>
                <a:latin typeface="Calibri" pitchFamily="34" charset="0"/>
                <a:ea typeface="Calibri" pitchFamily="34" charset="-122"/>
                <a:cs typeface="Calibri" pitchFamily="34" charset="-120"/>
              </a:rPr>
              <a:t>Overfitting Reduction
</a:t>
            </a:r>
            <a:endParaRPr lang="en-US" sz="1600" dirty="0"/>
          </a:p>
        </p:txBody>
      </p:sp>
      <p:sp>
        <p:nvSpPr>
          <p:cNvPr id="14" name="Text 6"/>
          <p:cNvSpPr/>
          <p:nvPr/>
        </p:nvSpPr>
        <p:spPr>
          <a:xfrm>
            <a:off x="4487221" y="3301917"/>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Random Forest reduces overfitting by an average of 30%.
</a:t>
            </a:r>
            <a:endParaRPr lang="en-US" sz="1300" dirty="0"/>
          </a:p>
        </p:txBody>
      </p:sp>
      <p:sp>
        <p:nvSpPr>
          <p:cNvPr id="15" name="Text 7"/>
          <p:cNvSpPr/>
          <p:nvPr/>
        </p:nvSpPr>
        <p:spPr>
          <a:xfrm>
            <a:off x="8212461" y="1777956"/>
            <a:ext cx="3217253" cy="1015975"/>
          </a:xfrm>
          <a:prstGeom prst="rect">
            <a:avLst/>
          </a:prstGeom>
          <a:noFill/>
          <a:ln/>
        </p:spPr>
        <p:txBody>
          <a:bodyPr wrap="square" lIns="1016" tIns="1016" rIns="1016" bIns="1016" rtlCol="0" anchor="t"/>
          <a:lstStyle/>
          <a:p>
            <a:pPr marL="0" indent="0" algn="ctr">
              <a:lnSpc>
                <a:spcPct val="130000"/>
              </a:lnSpc>
              <a:buNone/>
            </a:pPr>
            <a:r>
              <a:rPr lang="en-US" sz="4300" b="1" dirty="0">
                <a:solidFill>
                  <a:srgbClr val="FFFFFF"/>
                </a:solidFill>
                <a:latin typeface="Calibri" pitchFamily="34" charset="0"/>
                <a:ea typeface="Calibri" pitchFamily="34" charset="-122"/>
                <a:cs typeface="Calibri" pitchFamily="34" charset="-120"/>
              </a:rPr>
              <a:t>15%
</a:t>
            </a:r>
            <a:endParaRPr lang="en-US" sz="4300" dirty="0"/>
          </a:p>
        </p:txBody>
      </p:sp>
      <p:sp>
        <p:nvSpPr>
          <p:cNvPr id="16" name="Text 8"/>
          <p:cNvSpPr/>
          <p:nvPr/>
        </p:nvSpPr>
        <p:spPr>
          <a:xfrm>
            <a:off x="8212461" y="2857429"/>
            <a:ext cx="3217253" cy="380990"/>
          </a:xfrm>
          <a:prstGeom prst="rect">
            <a:avLst/>
          </a:prstGeom>
          <a:noFill/>
          <a:ln/>
        </p:spPr>
        <p:txBody>
          <a:bodyPr wrap="square" lIns="1016" tIns="1016" rIns="1016" bIns="1016" rtlCol="0" anchor="t"/>
          <a:lstStyle/>
          <a:p>
            <a:pPr marL="0" indent="0" algn="ctr">
              <a:lnSpc>
                <a:spcPct val="130000"/>
              </a:lnSpc>
              <a:buNone/>
            </a:pPr>
            <a:r>
              <a:rPr lang="en-US" sz="1600" dirty="0">
                <a:solidFill>
                  <a:srgbClr val="FFFFFF"/>
                </a:solidFill>
                <a:latin typeface="Calibri" pitchFamily="34" charset="0"/>
                <a:ea typeface="Calibri" pitchFamily="34" charset="-122"/>
                <a:cs typeface="Calibri" pitchFamily="34" charset="-120"/>
              </a:rPr>
              <a:t>Precision Boost
</a:t>
            </a:r>
            <a:endParaRPr lang="en-US" sz="1600" dirty="0"/>
          </a:p>
        </p:txBody>
      </p:sp>
      <p:sp>
        <p:nvSpPr>
          <p:cNvPr id="17" name="Text 9"/>
          <p:cNvSpPr/>
          <p:nvPr/>
        </p:nvSpPr>
        <p:spPr>
          <a:xfrm>
            <a:off x="8212461" y="3301917"/>
            <a:ext cx="3217253" cy="571486"/>
          </a:xfrm>
          <a:prstGeom prst="rect">
            <a:avLst/>
          </a:prstGeom>
          <a:noFill/>
          <a:ln/>
        </p:spPr>
        <p:txBody>
          <a:bodyPr wrap="square" lIns="1016" tIns="1016" rIns="1016" bIns="1016"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AdaBoost can increase precision by 15% in classification tasks.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9968" y="0"/>
            <a:ext cx="3428914" cy="6812280"/>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9968" y="0"/>
            <a:ext cx="3428914" cy="6812280"/>
          </a:xfrm>
          <a:prstGeom prst="rect">
            <a:avLst/>
          </a:prstGeom>
        </p:spPr>
      </p:pic>
      <p:pic>
        <p:nvPicPr>
          <p:cNvPr id="6" name="Image 4" descr="preencoded.png"/>
          <p:cNvPicPr>
            <a:picLocks noChangeAspect="1"/>
          </p:cNvPicPr>
          <p:nvPr/>
        </p:nvPicPr>
        <p:blipFill>
          <a:blip r:embed="rId5"/>
          <a:stretch>
            <a:fillRect/>
          </a:stretch>
        </p:blipFill>
        <p:spPr>
          <a:xfrm>
            <a:off x="5714857" y="634984"/>
            <a:ext cx="2539937" cy="2539937"/>
          </a:xfrm>
          <a:prstGeom prst="rect">
            <a:avLst/>
          </a:prstGeom>
        </p:spPr>
      </p:pic>
      <p:pic>
        <p:nvPicPr>
          <p:cNvPr id="7" name="Image 5" descr="preencoded.png"/>
          <p:cNvPicPr>
            <a:picLocks noChangeAspect="1"/>
          </p:cNvPicPr>
          <p:nvPr/>
        </p:nvPicPr>
        <p:blipFill>
          <a:blip r:embed="rId5"/>
          <a:stretch>
            <a:fillRect/>
          </a:stretch>
        </p:blipFill>
        <p:spPr>
          <a:xfrm>
            <a:off x="5714857" y="634984"/>
            <a:ext cx="2539937" cy="2539937"/>
          </a:xfrm>
          <a:prstGeom prst="rect">
            <a:avLst/>
          </a:prstGeom>
        </p:spPr>
      </p:pic>
      <p:pic>
        <p:nvPicPr>
          <p:cNvPr id="8" name="Image 6" descr="preencoded.png"/>
          <p:cNvPicPr>
            <a:picLocks noChangeAspect="1"/>
          </p:cNvPicPr>
          <p:nvPr/>
        </p:nvPicPr>
        <p:blipFill>
          <a:blip r:embed="rId6"/>
          <a:srcRect/>
          <a:stretch/>
        </p:blipFill>
        <p:spPr>
          <a:xfrm>
            <a:off x="6349841" y="888978"/>
            <a:ext cx="5079873" cy="5079873"/>
          </a:xfrm>
          <a:prstGeom prst="rect">
            <a:avLst/>
          </a:prstGeom>
        </p:spPr>
      </p:pic>
      <p:sp>
        <p:nvSpPr>
          <p:cNvPr id="9" name="Text 0"/>
          <p:cNvSpPr/>
          <p:nvPr/>
        </p:nvSpPr>
        <p:spPr>
          <a:xfrm>
            <a:off x="634984" y="507987"/>
            <a:ext cx="5079873" cy="1015975"/>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Visualizing Ensemble Learning Techniques
</a:t>
            </a:r>
            <a:endParaRPr lang="en-US" sz="2900" dirty="0"/>
          </a:p>
        </p:txBody>
      </p:sp>
      <p:sp>
        <p:nvSpPr>
          <p:cNvPr id="10" name="Text 1"/>
          <p:cNvSpPr/>
          <p:nvPr/>
        </p:nvSpPr>
        <p:spPr>
          <a:xfrm>
            <a:off x="634984" y="1777956"/>
            <a:ext cx="5079873" cy="4317892"/>
          </a:xfrm>
          <a:prstGeom prst="rect">
            <a:avLst/>
          </a:prstGeom>
          <a:noFill/>
          <a:ln/>
        </p:spPr>
        <p:txBody>
          <a:bodyPr wrap="square" lIns="1016" tIns="1016" rIns="1016" bIns="1016"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This illustration depicts ensemble learning methods like bagging, boosting, and stacking. The key takeaway is that combining models enhances accuracy by reducing variance and bias, leading to robust predictions.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4794" y="3809905"/>
            <a:ext cx="3891182" cy="3002375"/>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4794" y="3809905"/>
            <a:ext cx="3891182" cy="3002375"/>
          </a:xfrm>
          <a:prstGeom prst="rect">
            <a:avLst/>
          </a:prstGeom>
        </p:spPr>
      </p:pic>
      <p:sp>
        <p:nvSpPr>
          <p:cNvPr id="6" name="Text 0"/>
          <p:cNvSpPr/>
          <p:nvPr/>
        </p:nvSpPr>
        <p:spPr>
          <a:xfrm>
            <a:off x="761981" y="507987"/>
            <a:ext cx="10667733" cy="888978"/>
          </a:xfrm>
          <a:prstGeom prst="rect">
            <a:avLst/>
          </a:prstGeom>
          <a:noFill/>
          <a:ln/>
        </p:spPr>
        <p:txBody>
          <a:bodyPr wrap="square" lIns="1016" tIns="1016" rIns="1016" bIns="1016" rtlCol="0" anchor="t"/>
          <a:lstStyle/>
          <a:p>
            <a:pPr marL="0" indent="0" algn="l">
              <a:lnSpc>
                <a:spcPct val="130000"/>
              </a:lnSpc>
              <a:buNone/>
            </a:pPr>
            <a:r>
              <a:rPr lang="en-US" sz="2900" dirty="0">
                <a:solidFill>
                  <a:srgbClr val="FFFFFF"/>
                </a:solidFill>
                <a:latin typeface="Calibri" pitchFamily="34" charset="0"/>
                <a:ea typeface="Calibri" pitchFamily="34" charset="-122"/>
                <a:cs typeface="Calibri" pitchFamily="34" charset="-120"/>
              </a:rPr>
              <a:t>Frequently Asked Questions
</a:t>
            </a:r>
            <a:endParaRPr lang="en-US" sz="2900" dirty="0"/>
          </a:p>
        </p:txBody>
      </p:sp>
      <p:sp>
        <p:nvSpPr>
          <p:cNvPr id="7" name="Text 1"/>
          <p:cNvSpPr/>
          <p:nvPr/>
        </p:nvSpPr>
        <p:spPr>
          <a:xfrm>
            <a:off x="761981" y="1650959"/>
            <a:ext cx="10667733" cy="380990"/>
          </a:xfrm>
          <a:prstGeom prst="rect">
            <a:avLst/>
          </a:prstGeom>
          <a:noFill/>
          <a:ln/>
        </p:spPr>
        <p:txBody>
          <a:bodyPr wrap="square" lIns="1016" tIns="1016" rIns="1016" bIns="1016" rtlCol="0" anchor="t"/>
          <a:lstStyle/>
          <a:p>
            <a:pPr marL="0" indent="0" algn="l">
              <a:lnSpc>
                <a:spcPct val="130000"/>
              </a:lnSpc>
              <a:buNone/>
            </a:pPr>
            <a:r>
              <a:rPr lang="en-US" sz="1400" dirty="0">
                <a:solidFill>
                  <a:srgbClr val="FFFFFF"/>
                </a:solidFill>
                <a:latin typeface="Calibri" pitchFamily="34" charset="0"/>
                <a:ea typeface="Calibri" pitchFamily="34" charset="-122"/>
                <a:cs typeface="Calibri" pitchFamily="34" charset="-120"/>
              </a:rPr>
              <a:t>Q: What is the best ensemble method?
</a:t>
            </a:r>
            <a:endParaRPr lang="en-US" sz="1400" dirty="0"/>
          </a:p>
        </p:txBody>
      </p:sp>
      <p:sp>
        <p:nvSpPr>
          <p:cNvPr id="8" name="Text 2"/>
          <p:cNvSpPr/>
          <p:nvPr/>
        </p:nvSpPr>
        <p:spPr>
          <a:xfrm>
            <a:off x="1015975" y="2031949"/>
            <a:ext cx="10413740" cy="1155671"/>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 There is no one-size-fits-all answer; the best method depends on the specific dataset and problem. Random Forest is often preferred for its robustness, while AdaBoost can excel in scenarios with complex patterns.
</a:t>
            </a:r>
            <a:endParaRPr lang="en-US" sz="1300" dirty="0"/>
          </a:p>
        </p:txBody>
      </p:sp>
      <p:sp>
        <p:nvSpPr>
          <p:cNvPr id="9" name="Text 3"/>
          <p:cNvSpPr/>
          <p:nvPr/>
        </p:nvSpPr>
        <p:spPr>
          <a:xfrm>
            <a:off x="761981" y="2793930"/>
            <a:ext cx="10667733" cy="528307"/>
          </a:xfrm>
          <a:prstGeom prst="rect">
            <a:avLst/>
          </a:prstGeom>
          <a:noFill/>
          <a:ln/>
        </p:spPr>
        <p:txBody>
          <a:bodyPr wrap="square" lIns="1016" tIns="1016" rIns="1016" bIns="1016" rtlCol="0" anchor="t"/>
          <a:lstStyle/>
          <a:p>
            <a:pPr marL="0" indent="0" algn="l">
              <a:lnSpc>
                <a:spcPct val="130000"/>
              </a:lnSpc>
              <a:buNone/>
            </a:pPr>
            <a:r>
              <a:rPr lang="en-US" sz="1400" dirty="0">
                <a:solidFill>
                  <a:srgbClr val="FFFFFF"/>
                </a:solidFill>
                <a:latin typeface="Calibri" pitchFamily="34" charset="0"/>
                <a:ea typeface="Calibri" pitchFamily="34" charset="-122"/>
                <a:cs typeface="Calibri" pitchFamily="34" charset="-120"/>
              </a:rPr>
              <a:t>Q: How does ensemble learning handle imbalanced data?
</a:t>
            </a:r>
            <a:endParaRPr lang="en-US" sz="1400" dirty="0"/>
          </a:p>
        </p:txBody>
      </p:sp>
      <p:sp>
        <p:nvSpPr>
          <p:cNvPr id="10" name="Text 4"/>
          <p:cNvSpPr/>
          <p:nvPr/>
        </p:nvSpPr>
        <p:spPr>
          <a:xfrm>
            <a:off x="1015975" y="3174921"/>
            <a:ext cx="10413740" cy="1155671"/>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 Ensemble methods can improve performance on imbalanced datasets by combining multiple models that focus on different aspects of the data, such as using techniques like SMOTE in conjunction with bagging or boosting.
</a:t>
            </a:r>
            <a:endParaRPr lang="en-US" sz="1300" dirty="0"/>
          </a:p>
        </p:txBody>
      </p:sp>
      <p:sp>
        <p:nvSpPr>
          <p:cNvPr id="11" name="Text 5"/>
          <p:cNvSpPr/>
          <p:nvPr/>
        </p:nvSpPr>
        <p:spPr>
          <a:xfrm>
            <a:off x="761981" y="3936902"/>
            <a:ext cx="10667733" cy="380990"/>
          </a:xfrm>
          <a:prstGeom prst="rect">
            <a:avLst/>
          </a:prstGeom>
          <a:noFill/>
          <a:ln/>
        </p:spPr>
        <p:txBody>
          <a:bodyPr wrap="square" lIns="1016" tIns="1016" rIns="1016" bIns="1016" rtlCol="0" anchor="t"/>
          <a:lstStyle/>
          <a:p>
            <a:pPr marL="0" indent="0" algn="l">
              <a:lnSpc>
                <a:spcPct val="130000"/>
              </a:lnSpc>
              <a:buNone/>
            </a:pPr>
            <a:r>
              <a:rPr lang="en-US" sz="1400" dirty="0">
                <a:solidFill>
                  <a:srgbClr val="FFFFFF"/>
                </a:solidFill>
                <a:latin typeface="Calibri" pitchFamily="34" charset="0"/>
                <a:ea typeface="Calibri" pitchFamily="34" charset="-122"/>
                <a:cs typeface="Calibri" pitchFamily="34" charset="-120"/>
              </a:rPr>
              <a:t>Q: Can ensemble methods be used for regression?
</a:t>
            </a:r>
            <a:endParaRPr lang="en-US" sz="1400" dirty="0"/>
          </a:p>
        </p:txBody>
      </p:sp>
      <p:sp>
        <p:nvSpPr>
          <p:cNvPr id="12" name="Text 6"/>
          <p:cNvSpPr/>
          <p:nvPr/>
        </p:nvSpPr>
        <p:spPr>
          <a:xfrm>
            <a:off x="1015975" y="4317892"/>
            <a:ext cx="10413740" cy="924537"/>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 Yes, ensemble methods like Random Forest and Gradient Boosting can be effectively used for regression tasks, providing improved accuracy and robustness over single models.
</a:t>
            </a:r>
            <a:endParaRPr lang="en-US" sz="1300" dirty="0"/>
          </a:p>
        </p:txBody>
      </p:sp>
      <p:sp>
        <p:nvSpPr>
          <p:cNvPr id="13" name="Text 7"/>
          <p:cNvSpPr/>
          <p:nvPr/>
        </p:nvSpPr>
        <p:spPr>
          <a:xfrm>
            <a:off x="761981" y="5079873"/>
            <a:ext cx="10667733" cy="528307"/>
          </a:xfrm>
          <a:prstGeom prst="rect">
            <a:avLst/>
          </a:prstGeom>
          <a:noFill/>
          <a:ln/>
        </p:spPr>
        <p:txBody>
          <a:bodyPr wrap="square" lIns="1016" tIns="1016" rIns="1016" bIns="1016" rtlCol="0" anchor="t"/>
          <a:lstStyle/>
          <a:p>
            <a:pPr marL="0" indent="0" algn="l">
              <a:lnSpc>
                <a:spcPct val="130000"/>
              </a:lnSpc>
              <a:buNone/>
            </a:pPr>
            <a:r>
              <a:rPr lang="en-US" sz="1400" dirty="0">
                <a:solidFill>
                  <a:srgbClr val="FFFFFF"/>
                </a:solidFill>
                <a:latin typeface="Calibri" pitchFamily="34" charset="0"/>
                <a:ea typeface="Calibri" pitchFamily="34" charset="-122"/>
                <a:cs typeface="Calibri" pitchFamily="34" charset="-120"/>
              </a:rPr>
              <a:t>Q: What are the computational costs of ensemble learning?
</a:t>
            </a:r>
            <a:endParaRPr lang="en-US" sz="1400" dirty="0"/>
          </a:p>
        </p:txBody>
      </p:sp>
      <p:sp>
        <p:nvSpPr>
          <p:cNvPr id="14" name="Text 8"/>
          <p:cNvSpPr/>
          <p:nvPr/>
        </p:nvSpPr>
        <p:spPr>
          <a:xfrm>
            <a:off x="1015975" y="5460863"/>
            <a:ext cx="10413740" cy="924537"/>
          </a:xfrm>
          <a:prstGeom prst="rect">
            <a:avLst/>
          </a:prstGeom>
          <a:noFill/>
          <a:ln/>
        </p:spPr>
        <p:txBody>
          <a:bodyPr wrap="square" lIns="1016" tIns="1016" rIns="1016" bIns="1016"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 Ensemble learning can be computationally intensive due to the need to train multiple models, but techniques like parallel processing can help mitigate these costs.
</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59746" y="4444889"/>
            <a:ext cx="1986229" cy="2367391"/>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9778" y="-1269968"/>
            <a:ext cx="3256197" cy="5079873"/>
          </a:xfrm>
          <a:prstGeom prst="rect">
            <a:avLst/>
          </a:prstGeom>
        </p:spPr>
      </p:pic>
      <p:sp>
        <p:nvSpPr>
          <p:cNvPr id="8" name="Text 0"/>
          <p:cNvSpPr/>
          <p:nvPr/>
        </p:nvSpPr>
        <p:spPr>
          <a:xfrm>
            <a:off x="761981" y="634984"/>
            <a:ext cx="10667733"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FFFFFF"/>
                </a:solidFill>
                <a:latin typeface="Calibri" pitchFamily="34" charset="0"/>
                <a:ea typeface="Calibri" pitchFamily="34" charset="-122"/>
                <a:cs typeface="Calibri" pitchFamily="34" charset="-120"/>
              </a:rPr>
              <a:t>Real-World Applications of Ensemble Learning
</a:t>
            </a:r>
            <a:endParaRPr lang="en-US" sz="2900" dirty="0"/>
          </a:p>
        </p:txBody>
      </p:sp>
      <p:sp>
        <p:nvSpPr>
          <p:cNvPr id="9" name="Shape 1"/>
          <p:cNvSpPr/>
          <p:nvPr/>
        </p:nvSpPr>
        <p:spPr>
          <a:xfrm>
            <a:off x="380990" y="1650959"/>
            <a:ext cx="3606710" cy="3492541"/>
          </a:xfrm>
          <a:prstGeom prst="rect">
            <a:avLst/>
          </a:prstGeom>
          <a:noFill/>
          <a:ln/>
        </p:spPr>
        <p:txBody>
          <a:bodyPr/>
          <a:lstStyle/>
          <a:p>
            <a:endParaRPr lang="en-IN"/>
          </a:p>
        </p:txBody>
      </p:sp>
      <p:pic>
        <p:nvPicPr>
          <p:cNvPr id="10" name="Image 6" descr="preencoded.png"/>
          <p:cNvPicPr>
            <a:picLocks noChangeAspect="1"/>
          </p:cNvPicPr>
          <p:nvPr/>
        </p:nvPicPr>
        <p:blipFill>
          <a:blip r:embed="rId6"/>
          <a:srcRect/>
          <a:stretch/>
        </p:blipFill>
        <p:spPr>
          <a:xfrm>
            <a:off x="380990" y="1650959"/>
            <a:ext cx="3606710" cy="2336742"/>
          </a:xfrm>
          <a:prstGeom prst="rect">
            <a:avLst/>
          </a:prstGeom>
        </p:spPr>
      </p:pic>
      <p:sp>
        <p:nvSpPr>
          <p:cNvPr id="11"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Finance: Credit Scoring Models
</a:t>
            </a:r>
            <a:endParaRPr lang="en-US" sz="1300" dirty="0"/>
          </a:p>
        </p:txBody>
      </p:sp>
      <p:sp>
        <p:nvSpPr>
          <p:cNvPr id="12"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Ensemble learning enhances credit scoring accuracy by combining models, reducing default prediction errors by up to 20%, leading to better risk management in financial institutions.
</a:t>
            </a:r>
            <a:endParaRPr lang="en-US" sz="1300" dirty="0"/>
          </a:p>
        </p:txBody>
      </p:sp>
      <p:sp>
        <p:nvSpPr>
          <p:cNvPr id="13" name="Shape 4"/>
          <p:cNvSpPr/>
          <p:nvPr/>
        </p:nvSpPr>
        <p:spPr>
          <a:xfrm>
            <a:off x="4292493" y="1650959"/>
            <a:ext cx="3606710" cy="3492541"/>
          </a:xfrm>
          <a:prstGeom prst="rect">
            <a:avLst/>
          </a:prstGeom>
          <a:noFill/>
          <a:ln/>
        </p:spPr>
        <p:txBody>
          <a:bodyPr/>
          <a:lstStyle/>
          <a:p>
            <a:endParaRPr lang="en-IN"/>
          </a:p>
        </p:txBody>
      </p:sp>
      <p:pic>
        <p:nvPicPr>
          <p:cNvPr id="14" name="Image 7" descr="preencoded.png"/>
          <p:cNvPicPr>
            <a:picLocks noChangeAspect="1"/>
          </p:cNvPicPr>
          <p:nvPr/>
        </p:nvPicPr>
        <p:blipFill>
          <a:blip r:embed="rId7"/>
          <a:srcRect/>
          <a:stretch/>
        </p:blipFill>
        <p:spPr>
          <a:xfrm>
            <a:off x="4292493" y="1650959"/>
            <a:ext cx="3606710" cy="2336742"/>
          </a:xfrm>
          <a:prstGeom prst="rect">
            <a:avLst/>
          </a:prstGeom>
        </p:spPr>
      </p:pic>
      <p:sp>
        <p:nvSpPr>
          <p:cNvPr id="15"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Healthcare: Disease Prediction
</a:t>
            </a:r>
            <a:endParaRPr lang="en-US" sz="1300" dirty="0"/>
          </a:p>
        </p:txBody>
      </p:sp>
      <p:sp>
        <p:nvSpPr>
          <p:cNvPr id="16"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In healthcare, ensemble methods improve disease prediction accuracy, with models like Random Forest achieving up to 95% accuracy in identifying high-risk patients for chronic diseases.
</a:t>
            </a:r>
            <a:endParaRPr lang="en-US" sz="1300" dirty="0"/>
          </a:p>
        </p:txBody>
      </p:sp>
      <p:sp>
        <p:nvSpPr>
          <p:cNvPr id="17" name="Shape 7"/>
          <p:cNvSpPr/>
          <p:nvPr/>
        </p:nvSpPr>
        <p:spPr>
          <a:xfrm>
            <a:off x="8203995" y="1650959"/>
            <a:ext cx="940005" cy="3492541"/>
          </a:xfrm>
          <a:prstGeom prst="rect">
            <a:avLst/>
          </a:prstGeom>
          <a:noFill/>
          <a:ln/>
        </p:spPr>
        <p:txBody>
          <a:bodyPr/>
          <a:lstStyle/>
          <a:p>
            <a:endParaRPr lang="en-IN"/>
          </a:p>
        </p:txBody>
      </p:sp>
      <p:pic>
        <p:nvPicPr>
          <p:cNvPr id="18" name="Image 8" descr="preencoded.png"/>
          <p:cNvPicPr>
            <a:picLocks noChangeAspect="1"/>
          </p:cNvPicPr>
          <p:nvPr/>
        </p:nvPicPr>
        <p:blipFill>
          <a:blip r:embed="rId8"/>
          <a:srcRect/>
          <a:stretch/>
        </p:blipFill>
        <p:spPr>
          <a:xfrm>
            <a:off x="8203995" y="1650959"/>
            <a:ext cx="3606710" cy="2336742"/>
          </a:xfrm>
          <a:prstGeom prst="rect">
            <a:avLst/>
          </a:prstGeom>
        </p:spPr>
      </p:pic>
      <p:sp>
        <p:nvSpPr>
          <p:cNvPr id="19"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FFFFFF"/>
                </a:solidFill>
                <a:latin typeface="Calibri" pitchFamily="34" charset="0"/>
                <a:ea typeface="Calibri" pitchFamily="34" charset="-122"/>
                <a:cs typeface="Calibri" pitchFamily="34" charset="-120"/>
              </a:rPr>
              <a:t>Marketing: Customer Segmentation
</a:t>
            </a:r>
            <a:endParaRPr lang="en-US" sz="1300" dirty="0"/>
          </a:p>
        </p:txBody>
      </p:sp>
      <p:sp>
        <p:nvSpPr>
          <p:cNvPr id="20"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Ensemble techniques enable precise customer segmentation, increasing targeted marketing campaign effectiveness by 30%, thus optimizing resource allocation and boosting sales.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ECDC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stretch>
            <a:fillRect/>
          </a:stretch>
        </p:blipFill>
        <p:spPr>
          <a:xfrm>
            <a:off x="0" y="0"/>
            <a:ext cx="12145975" cy="6812280"/>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0895" y="-1015975"/>
            <a:ext cx="3809905" cy="3174921"/>
          </a:xfrm>
          <a:prstGeom prst="rect">
            <a:avLst/>
          </a:prstGeom>
        </p:spPr>
      </p:pic>
      <p:pic>
        <p:nvPicPr>
          <p:cNvPr id="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70768" y="2285943"/>
            <a:ext cx="2875207" cy="4444889"/>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3962" y="2285943"/>
            <a:ext cx="4444889" cy="4444889"/>
          </a:xfrm>
          <a:prstGeom prst="rect">
            <a:avLst/>
          </a:prstGeom>
        </p:spPr>
      </p:pic>
      <p:pic>
        <p:nvPicPr>
          <p:cNvPr id="7"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0895" y="-1015975"/>
            <a:ext cx="3809905" cy="3174921"/>
          </a:xfrm>
          <a:prstGeom prst="rect">
            <a:avLst/>
          </a:prstGeom>
        </p:spPr>
      </p:pic>
      <p:pic>
        <p:nvPicPr>
          <p:cNvPr id="8"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70768" y="2285943"/>
            <a:ext cx="2875207" cy="4444889"/>
          </a:xfrm>
          <a:prstGeom prst="rect">
            <a:avLst/>
          </a:prstGeom>
        </p:spPr>
      </p:pic>
      <p:pic>
        <p:nvPicPr>
          <p:cNvPr id="9" name="Image 7"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3962" y="2285943"/>
            <a:ext cx="4444889" cy="4444889"/>
          </a:xfrm>
          <a:prstGeom prst="rect">
            <a:avLst/>
          </a:prstGeom>
        </p:spPr>
      </p:pic>
      <p:sp>
        <p:nvSpPr>
          <p:cNvPr id="10" name="Text 0"/>
          <p:cNvSpPr/>
          <p:nvPr/>
        </p:nvSpPr>
        <p:spPr>
          <a:xfrm>
            <a:off x="1015975" y="1523962"/>
            <a:ext cx="10159746" cy="1269968"/>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FFFFFF"/>
                </a:solidFill>
                <a:latin typeface="Calibri" pitchFamily="34" charset="0"/>
                <a:ea typeface="Calibri" pitchFamily="34" charset="-122"/>
                <a:cs typeface="Calibri" pitchFamily="34" charset="-120"/>
              </a:rPr>
              <a:t>Key Takeaways
</a:t>
            </a:r>
            <a:endParaRPr lang="en-US" sz="2900" dirty="0"/>
          </a:p>
        </p:txBody>
      </p:sp>
      <p:sp>
        <p:nvSpPr>
          <p:cNvPr id="11" name="Text 1"/>
          <p:cNvSpPr/>
          <p:nvPr/>
        </p:nvSpPr>
        <p:spPr>
          <a:xfrm>
            <a:off x="1079473" y="2438339"/>
            <a:ext cx="10794730" cy="2933627"/>
          </a:xfrm>
          <a:prstGeom prst="rect">
            <a:avLst/>
          </a:prstGeom>
          <a:noFill/>
          <a:ln/>
        </p:spPr>
        <p:txBody>
          <a:bodyPr wrap="square" lIns="1016" tIns="1016" rIns="1016" bIns="1016" rtlCol="0" anchor="t"/>
          <a:lstStyle/>
          <a:p>
            <a:pPr marL="0" indent="0" algn="ctr">
              <a:lnSpc>
                <a:spcPct val="150000"/>
              </a:lnSpc>
              <a:buNone/>
            </a:pPr>
            <a:r>
              <a:rPr lang="en-US" sz="1300" dirty="0">
                <a:solidFill>
                  <a:srgbClr val="FFFFFF"/>
                </a:solidFill>
                <a:latin typeface="Calibri" pitchFamily="34" charset="0"/>
                <a:ea typeface="Calibri" pitchFamily="34" charset="-122"/>
                <a:cs typeface="Calibri" pitchFamily="34" charset="-120"/>
              </a:rPr>
              <a:t>Ensemble learning significantly enhances model performance by reducing bias and variance through techniques like bagging, boosting, and stacking. Algorithms such as Random Forest and AdaBoost exemplify these methods, demonstrating improved accuracy and robustness. As we move forward, consider implementing ensemble techniques in your projects to leverage their strengths. Embrace the power of combining models to achieve superior predictive capabilities and drive better decision-making in your applications.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1177</Words>
  <Application>Microsoft Office PowerPoint</Application>
  <PresentationFormat>Widescreen</PresentationFormat>
  <Paragraphs>101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Harsha Harsha</cp:lastModifiedBy>
  <cp:revision>2</cp:revision>
  <dcterms:created xsi:type="dcterms:W3CDTF">2026-07-25T03:06:17Z</dcterms:created>
  <dcterms:modified xsi:type="dcterms:W3CDTF">2026-07-25T03:22:17Z</dcterms:modified>
</cp:coreProperties>
</file>